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1004a8ab5f403f" /><Relationship Type="http://schemas.openxmlformats.org/officeDocument/2006/relationships/extended-properties" Target="/docProps/app.xml" Id="R3df0597f0dfe4a38" /><Relationship Type="http://schemas.openxmlformats.org/officeDocument/2006/relationships/officeDocument" Target="/ppt/presentation.xml" Id="Rcd67311bd697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69179f11b94211"/>
  </p:sldMasterIdLst>
  <p:notesMasterIdLst>
    <p:notesMasterId xmlns:r="http://schemas.openxmlformats.org/officeDocument/2006/relationships" r:id="Rdcfbaa30dfab4680"/>
  </p:notesMasterIdLst>
  <p:sldIdLst>
    <p:sldId xmlns:r="http://schemas.openxmlformats.org/officeDocument/2006/relationships" id="256" r:id="Raef7b2f9ce1c4493"/>
    <p:sldId xmlns:r="http://schemas.openxmlformats.org/officeDocument/2006/relationships" id="257" r:id="R797e786b3a23477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4cac9083bd4522" /><Relationship Type="http://schemas.openxmlformats.org/officeDocument/2006/relationships/slideMaster" Target="/ppt/slideMasters/slideMaster1.xml" Id="R9569179f11b94211" /><Relationship Type="http://schemas.openxmlformats.org/officeDocument/2006/relationships/notesMaster" Target="/ppt/notesMasters/notesMaster1.xml" Id="Rdcfbaa30dfab4680" /><Relationship Type="http://schemas.openxmlformats.org/officeDocument/2006/relationships/presProps" Target="/ppt/presProps.xml" Id="R57a2090a8af1473a" /><Relationship Type="http://schemas.openxmlformats.org/officeDocument/2006/relationships/tableStyles" Target="/ppt/tableStyles.xml" Id="R88ab1552e555439d" /><Relationship Type="http://schemas.openxmlformats.org/officeDocument/2006/relationships/slide" Target="/ppt/slides/slide1.xml" Id="Raef7b2f9ce1c4493" /><Relationship Type="http://schemas.openxmlformats.org/officeDocument/2006/relationships/slide" Target="/ppt/slides/slide2.xml" Id="R797e786b3a23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243d87b7d244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ade63801cb4d9d" /><Relationship Type="http://schemas.openxmlformats.org/officeDocument/2006/relationships/notesMaster" Target="/ppt/notesMasters/notesMaster1.xml" Id="R9ad05257be2e4e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9c74d3276447c4" /><Relationship Type="http://schemas.openxmlformats.org/officeDocument/2006/relationships/notesMaster" Target="/ppt/notesMasters/notesMaster1.xml" Id="R8c81de8e033146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e3d40680fc4a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d6746fde914ec4" /><Relationship Type="http://schemas.openxmlformats.org/officeDocument/2006/relationships/slideLayout" Target="/ppt/slideLayouts/slideLayout1.xml" Id="R05f7237615854f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f7237615854f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1abe97af44cc5" /><Relationship Type="http://schemas.openxmlformats.org/officeDocument/2006/relationships/image" Target="/ppt/media/image.png" Id="R2db92613f3a04c67" /><Relationship Type="http://schemas.openxmlformats.org/officeDocument/2006/relationships/image" Target="/ppt/media/image2.png" Id="R0d6b67756ae8454b" /><Relationship Type="http://schemas.openxmlformats.org/officeDocument/2006/relationships/image" Target="/ppt/media/image3.png" Id="R87924889c2844478" /><Relationship Type="http://schemas.openxmlformats.org/officeDocument/2006/relationships/image" Target="/ppt/media/image4.png" Id="R0be28bac086b44b6" /><Relationship Type="http://schemas.openxmlformats.org/officeDocument/2006/relationships/image" Target="/ppt/media/image5.png" Id="R219561901ea04488" /><Relationship Type="http://schemas.openxmlformats.org/officeDocument/2006/relationships/image" Target="/ppt/media/image6.png" Id="R2e7176f450ad48f5" /><Relationship Type="http://schemas.openxmlformats.org/officeDocument/2006/relationships/image" Target="/ppt/media/image7.png" Id="Rcc01dbcd65ae4afe" /><Relationship Type="http://schemas.openxmlformats.org/officeDocument/2006/relationships/image" Target="/ppt/media/image8.png" Id="R7a2a0c4ac5d441d2" /><Relationship Type="http://schemas.openxmlformats.org/officeDocument/2006/relationships/image" Target="/ppt/media/image9.png" Id="R8acd6f8e0da04f65" /><Relationship Type="http://schemas.openxmlformats.org/officeDocument/2006/relationships/image" Target="/ppt/media/image10.png" Id="R136486c714a440d8" /><Relationship Type="http://schemas.openxmlformats.org/officeDocument/2006/relationships/image" Target="/ppt/media/image11.png" Id="R22db217b61f54b6c" /><Relationship Type="http://schemas.openxmlformats.org/officeDocument/2006/relationships/notesSlide" Target="/ppt/notesSlides/notesSlide1.xml" Id="Rbeae8f2e39f949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751ae5b3a4ec3" /><Relationship Type="http://schemas.openxmlformats.org/officeDocument/2006/relationships/image" Target="/ppt/media/image12.png" Id="Rb0d83c3d99574d98" /><Relationship Type="http://schemas.openxmlformats.org/officeDocument/2006/relationships/image" Target="/ppt/media/image13.png" Id="Re35495014120462c" /><Relationship Type="http://schemas.openxmlformats.org/officeDocument/2006/relationships/image" Target="/ppt/media/image14.png" Id="R89fa139168f64dd2" /><Relationship Type="http://schemas.openxmlformats.org/officeDocument/2006/relationships/image" Target="/ppt/media/image15.png" Id="Ra842024a4bdc4617" /><Relationship Type="http://schemas.openxmlformats.org/officeDocument/2006/relationships/image" Target="/ppt/media/image16.png" Id="R163e66d000d94224" /><Relationship Type="http://schemas.openxmlformats.org/officeDocument/2006/relationships/image" Target="/ppt/media/image17.png" Id="R42a3f603359b47b1" /><Relationship Type="http://schemas.openxmlformats.org/officeDocument/2006/relationships/image" Target="/ppt/media/image18.png" Id="R2e136c3cd0564548" /><Relationship Type="http://schemas.openxmlformats.org/officeDocument/2006/relationships/image" Target="/ppt/media/image19.png" Id="Rcbf58929b7bb4bed" /><Relationship Type="http://schemas.openxmlformats.org/officeDocument/2006/relationships/image" Target="/ppt/media/image20.png" Id="R0165f6cf920e44bf" /><Relationship Type="http://schemas.openxmlformats.org/officeDocument/2006/relationships/notesSlide" Target="/ppt/notesSlides/notesSlide2.xml" Id="R032b12ef615547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6D50D7B-FF48-4DB9-88B0-93EBB9BE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12D2A"/>
                </a:solidFill>
              </a:defRPr>
            </a:pPr>
            <a:r>
              <a:rPr sz="3150" b="1">
                <a:solidFill>
                  <a:srgbClr val="312D2A"/>
                </a:solidFill>
              </a:rPr>
              <a:t>HA Architecture - Spring Boot + OCI Streaming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39F8-1C5D-46F1-ACE4-91E1F681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715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F6A65"/>
                </a:solidFill>
              </a:defRPr>
            </a:pPr>
            <a:r>
              <a:rPr sz="1350" b="0">
                <a:solidFill>
                  <a:srgbClr val="6F6A65"/>
                </a:solidFill>
              </a:rPr>
              <a:t>Kafka API producer and consumer with automatic failover across OCI regions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966F1-1BEF-40EC-8ED5-6630706F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90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6A65"/>
                </a:solidFill>
              </a:defRPr>
            </a:pPr>
            <a:r>
              <a:rPr sz="900" b="0">
                <a:solidFill>
                  <a:srgbClr val="6F6A65"/>
                </a:solidFill>
              </a:rPr>
              <a:t>Visual source: OCI_Icons.pptx / OCI Architecture Diagram Toolkit</a:t>
            </a:r>
          </a:p>
        </p:txBody>
      </p:sp>
      <p:sp>
        <p:nvSpPr>
          <p:cNvPr id="4" name="Execucao da demo">
            <a:extLst xmlns:a="http://schemas.openxmlformats.org/drawingml/2006/main">
              <a:ext uri="{FF2B5EF4-FFF2-40B4-BE49-F238E27FC236}">
                <a16:creationId xmlns:a16="http://schemas.microsoft.com/office/drawing/2014/main" id="{AEF36402-CB13-4486-B9F8-D3F0793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543300" cy="56007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AD7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178A4-1877-4EC3-8125-122379B8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12D2A"/>
                </a:solidFill>
              </a:defRPr>
            </a:pPr>
            <a:r>
              <a:rPr sz="1575" b="1">
                <a:solidFill>
                  <a:srgbClr val="312D2A"/>
                </a:solidFill>
              </a:rPr>
              <a:t>Demo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02F5A-6A0F-4356-A91D-F22C21A4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47875"/>
            <a:ext cx="312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Console/Eclipse + Spring Boot app</a:t>
            </a:r>
          </a:p>
        </p:txBody>
      </p:sp>
      <p:sp>
        <p:nvSpPr>
          <p:cNvPr id="7" name="Regiao primaria">
            <a:extLst xmlns:a="http://schemas.openxmlformats.org/drawingml/2006/main">
              <a:ext uri="{FF2B5EF4-FFF2-40B4-BE49-F238E27FC236}">
                <a16:creationId xmlns:a16="http://schemas.microsoft.com/office/drawing/2014/main" id="{C2C56190-A082-4948-BCB3-EBD69477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19250"/>
            <a:ext cx="4476750" cy="560070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AFAF9"/>
          </a:solidFill>
          <a:ln xmlns:a="http://schemas.openxmlformats.org/drawingml/2006/main" w="14288">
            <a:solidFill>
              <a:srgbClr val="B9D7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FDC35B-87C3-4AB7-9B60-95DCA320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71650"/>
            <a:ext cx="405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404A"/>
                </a:solidFill>
              </a:defRPr>
            </a:pPr>
            <a:r>
              <a:rPr sz="1575" b="1">
                <a:solidFill>
                  <a:srgbClr val="17404A"/>
                </a:solidFill>
              </a:rPr>
              <a:t>Primary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DA941-135A-4AFB-98C0-6B8E9AEC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47875"/>
            <a:ext cx="405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Active OCI Streaming</a:t>
            </a:r>
          </a:p>
        </p:txBody>
      </p:sp>
      <p:sp>
        <p:nvSpPr>
          <p:cNvPr id="10" name="Regiao secundaria">
            <a:extLst xmlns:a="http://schemas.openxmlformats.org/drawingml/2006/main">
              <a:ext uri="{FF2B5EF4-FFF2-40B4-BE49-F238E27FC236}">
                <a16:creationId xmlns:a16="http://schemas.microsoft.com/office/drawing/2014/main" id="{12B80DEB-D495-429B-B06E-68A35409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19250"/>
            <a:ext cx="4476750" cy="560070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BF7EF"/>
          </a:solidFill>
          <a:ln xmlns:a="http://schemas.openxmlformats.org/drawingml/2006/main" w="14288">
            <a:solidFill>
              <a:srgbClr val="E7BFA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77C925-BA7D-43D0-BBA5-68290ABC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71650"/>
            <a:ext cx="405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74634"/>
                </a:solidFill>
              </a:defRPr>
            </a:pPr>
            <a:r>
              <a:rPr sz="1575" b="1">
                <a:solidFill>
                  <a:srgbClr val="C74634"/>
                </a:solidFill>
              </a:rPr>
              <a:t>Secondary region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0BA17-1EF5-4576-B64F-825FAE34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047875"/>
            <a:ext cx="405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Created or reused during failover</a:t>
            </a:r>
          </a:p>
        </p:txBody>
      </p:sp>
      <p:sp>
        <p:nvSpPr>
          <p:cNvPr id="13" name="operator">
            <a:extLst xmlns:a="http://schemas.openxmlformats.org/drawingml/2006/main">
              <a:ext uri="{FF2B5EF4-FFF2-40B4-BE49-F238E27FC236}">
                <a16:creationId xmlns:a16="http://schemas.microsoft.com/office/drawing/2014/main" id="{8972A37E-871D-48B5-8A48-E4E1B1D3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05050"/>
            <a:ext cx="2857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operator-accent">
            <a:extLst xmlns:a="http://schemas.openxmlformats.org/drawingml/2006/main">
              <a:ext uri="{FF2B5EF4-FFF2-40B4-BE49-F238E27FC236}">
                <a16:creationId xmlns:a16="http://schemas.microsoft.com/office/drawing/2014/main" id="{62E1D035-35A3-42ED-8B18-6EDE6553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05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0">
            <a:solidFill>
              <a:srgbClr val="2C5967"/>
            </a:solidFill>
            <a:prstDash val="solid"/>
          </a:ln>
        </p:spPr>
      </p:sp>
      <p:pic>
        <p:nvPicPr>
          <p:cNvPr id="2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92613f3a04c67"/>
          <a:stretch xmlns:a="http://schemas.openxmlformats.org/drawingml/2006/main"/>
        </p:blipFill>
        <p:spPr>
          <a:xfrm xmlns:a="http://schemas.openxmlformats.org/drawingml/2006/main">
            <a:off x="1179059" y="2495550"/>
            <a:ext cx="404132" cy="5143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E956C8-A671-4C64-9CD5-F6BF7207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7650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Operator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108AA-2EDF-47F0-A10A-AEC88BF5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28925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Sets the message count in the Eclipse console.</a:t>
            </a:r>
          </a:p>
        </p:txBody>
      </p:sp>
      <p:sp>
        <p:nvSpPr>
          <p:cNvPr id="18" name="spring-app">
            <a:extLst xmlns:a="http://schemas.openxmlformats.org/drawingml/2006/main">
              <a:ext uri="{FF2B5EF4-FFF2-40B4-BE49-F238E27FC236}">
                <a16:creationId xmlns:a16="http://schemas.microsoft.com/office/drawing/2014/main" id="{15E29348-9026-4315-8125-6E6E8B99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2857500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spring-app-accent">
            <a:extLst xmlns:a="http://schemas.openxmlformats.org/drawingml/2006/main">
              <a:ext uri="{FF2B5EF4-FFF2-40B4-BE49-F238E27FC236}">
                <a16:creationId xmlns:a16="http://schemas.microsoft.com/office/drawing/2014/main" id="{3DEFAF85-49B1-404E-BA72-469D778C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2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b67756ae8454b"/>
          <a:stretch xmlns:a="http://schemas.openxmlformats.org/drawingml/2006/main"/>
        </p:blipFill>
        <p:spPr>
          <a:xfrm xmlns:a="http://schemas.openxmlformats.org/drawingml/2006/main">
            <a:off x="1123950" y="4090035"/>
            <a:ext cx="514350" cy="41148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AE0DE1-5DAE-4804-A63B-C8324AAE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195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Spring Boot App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EF8BB3-877D-4106-A763-4346C024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71975"/>
            <a:ext cx="190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Producer, batch consumer, retry/DLQ, idempotency, and failover.</a:t>
            </a:r>
          </a:p>
        </p:txBody>
      </p:sp>
      <p:sp>
        <p:nvSpPr>
          <p:cNvPr id="23" name="h2-state">
            <a:extLst xmlns:a="http://schemas.openxmlformats.org/drawingml/2006/main">
              <a:ext uri="{FF2B5EF4-FFF2-40B4-BE49-F238E27FC236}">
                <a16:creationId xmlns:a16="http://schemas.microsoft.com/office/drawing/2014/main" id="{6830EEF3-F58D-4238-A9EC-A4BBFB29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72125"/>
            <a:ext cx="28575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h2-state-accent">
            <a:extLst xmlns:a="http://schemas.openxmlformats.org/drawingml/2006/main">
              <a:ext uri="{FF2B5EF4-FFF2-40B4-BE49-F238E27FC236}">
                <a16:creationId xmlns:a16="http://schemas.microsoft.com/office/drawing/2014/main" id="{D7B57B38-3794-4D19-8E12-6A87B0AB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72125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C6C"/>
          </a:solidFill>
          <a:ln xmlns:a="http://schemas.openxmlformats.org/drawingml/2006/main" w="0">
            <a:solidFill>
              <a:srgbClr val="759C6C"/>
            </a:solidFill>
            <a:prstDash val="solid"/>
          </a:ln>
        </p:spPr>
      </p:sp>
      <p:pic>
        <p:nvPicPr>
          <p:cNvPr id="3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24889c2844478"/>
          <a:stretch xmlns:a="http://schemas.openxmlformats.org/drawingml/2006/main"/>
        </p:blipFill>
        <p:spPr>
          <a:xfrm xmlns:a="http://schemas.openxmlformats.org/drawingml/2006/main">
            <a:off x="1123950" y="5795963"/>
            <a:ext cx="514350" cy="447675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1C497D-70C1-4996-86AC-8A31D363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43575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H2 processed_events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825D49-AC77-4F82-BD20-EA132FF5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960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Idempotent control of already processed events.</a:t>
            </a:r>
          </a:p>
        </p:txBody>
      </p:sp>
      <p:sp>
        <p:nvSpPr>
          <p:cNvPr id="28" name="stream-properties">
            <a:extLst xmlns:a="http://schemas.openxmlformats.org/drawingml/2006/main">
              <a:ext uri="{FF2B5EF4-FFF2-40B4-BE49-F238E27FC236}">
                <a16:creationId xmlns:a16="http://schemas.microsoft.com/office/drawing/2014/main" id="{021F9E60-70EB-4D2E-86E1-9C106CDD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48450"/>
            <a:ext cx="28575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stream-properties-accent">
            <a:extLst xmlns:a="http://schemas.openxmlformats.org/drawingml/2006/main">
              <a:ext uri="{FF2B5EF4-FFF2-40B4-BE49-F238E27FC236}">
                <a16:creationId xmlns:a16="http://schemas.microsoft.com/office/drawing/2014/main" id="{A52ADF81-57A3-42E3-BC3E-0CF8953E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4845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6A65"/>
          </a:solidFill>
          <a:ln xmlns:a="http://schemas.openxmlformats.org/drawingml/2006/main" w="0">
            <a:solidFill>
              <a:srgbClr val="6F6A65"/>
            </a:solidFill>
            <a:prstDash val="solid"/>
          </a:ln>
        </p:spPr>
      </p:sp>
      <p:pic>
        <p:nvPicPr>
          <p:cNvPr id="3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28bac086b44b6"/>
          <a:stretch xmlns:a="http://schemas.openxmlformats.org/drawingml/2006/main"/>
        </p:blipFill>
        <p:spPr>
          <a:xfrm xmlns:a="http://schemas.openxmlformats.org/drawingml/2006/main">
            <a:off x="1123950" y="6863212"/>
            <a:ext cx="514350" cy="465826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AAD743-27AD-41E7-9134-7FE7F201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81990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stream.properties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629739-08A6-4C58-80D8-71AC494F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7172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Secondary bootstrap persisted after failover.</a:t>
            </a:r>
          </a:p>
        </p:txBody>
      </p:sp>
      <p:sp>
        <p:nvSpPr>
          <p:cNvPr id="33" name="primary-network">
            <a:extLst xmlns:a="http://schemas.openxmlformats.org/drawingml/2006/main">
              <a:ext uri="{FF2B5EF4-FFF2-40B4-BE49-F238E27FC236}">
                <a16:creationId xmlns:a16="http://schemas.microsoft.com/office/drawing/2014/main" id="{53CC2792-6FB6-4002-9BB6-E7AC83F7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05050"/>
            <a:ext cx="35242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DCECF2"/>
          </a:solidFill>
          <a:ln xmlns:a="http://schemas.openxmlformats.org/drawingml/2006/main" w="12383">
            <a:solidFill>
              <a:srgbClr val="A9CDD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primary-network-accent">
            <a:extLst xmlns:a="http://schemas.openxmlformats.org/drawingml/2006/main">
              <a:ext uri="{FF2B5EF4-FFF2-40B4-BE49-F238E27FC236}">
                <a16:creationId xmlns:a16="http://schemas.microsoft.com/office/drawing/2014/main" id="{C44F3B48-8353-49D9-9999-9B547627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050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0">
            <a:solidFill>
              <a:srgbClr val="2C5967"/>
            </a:solidFill>
            <a:prstDash val="solid"/>
          </a:ln>
        </p:spPr>
      </p:sp>
      <p:pic>
        <p:nvPicPr>
          <p:cNvPr id="3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561901ea04488"/>
          <a:stretch xmlns:a="http://schemas.openxmlformats.org/drawingml/2006/main"/>
        </p:blipFill>
        <p:spPr>
          <a:xfrm xmlns:a="http://schemas.openxmlformats.org/drawingml/2006/main">
            <a:off x="5238750" y="2567739"/>
            <a:ext cx="514350" cy="369971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C32C90-3BAA-4FBA-8CFC-E02A17BC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76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VCN / Kafka access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C55949-D6AA-4497-91E9-BEDB42C3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28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Connectivity to the Kafka-compatible endpoint.</a:t>
            </a:r>
          </a:p>
        </p:txBody>
      </p:sp>
      <p:sp>
        <p:nvSpPr>
          <p:cNvPr id="38" name="primary-stream">
            <a:extLst xmlns:a="http://schemas.openxmlformats.org/drawingml/2006/main">
              <a:ext uri="{FF2B5EF4-FFF2-40B4-BE49-F238E27FC236}">
                <a16:creationId xmlns:a16="http://schemas.microsoft.com/office/drawing/2014/main" id="{3F6D94DE-39AE-4E0F-BE88-882741AA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24250"/>
            <a:ext cx="352425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primary-stream-accent">
            <a:extLst xmlns:a="http://schemas.openxmlformats.org/drawingml/2006/main">
              <a:ext uri="{FF2B5EF4-FFF2-40B4-BE49-F238E27FC236}">
                <a16:creationId xmlns:a16="http://schemas.microsoft.com/office/drawing/2014/main" id="{1123364C-5BFB-4068-8DB7-5E7FFDBB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242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0">
            <a:solidFill>
              <a:srgbClr val="2C5967"/>
            </a:solidFill>
            <a:prstDash val="solid"/>
          </a:ln>
        </p:spPr>
      </p:sp>
      <p:pic>
        <p:nvPicPr>
          <p:cNvPr id="3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176f450ad48f5"/>
          <a:stretch xmlns:a="http://schemas.openxmlformats.org/drawingml/2006/main"/>
        </p:blipFill>
        <p:spPr>
          <a:xfrm xmlns:a="http://schemas.openxmlformats.org/drawingml/2006/main">
            <a:off x="5238750" y="3798060"/>
            <a:ext cx="514350" cy="34773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936AE4-233A-40B4-8A0C-BEB60917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957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OCI Streaming - orders-demo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3AACB8-49CA-4C14-850C-6289CE65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4812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Primary stream with a consistent partition key by orderId.</a:t>
            </a:r>
          </a:p>
        </p:txBody>
      </p:sp>
      <p:sp>
        <p:nvSpPr>
          <p:cNvPr id="43" name="primary-dlq">
            <a:extLst xmlns:a="http://schemas.openxmlformats.org/drawingml/2006/main">
              <a:ext uri="{FF2B5EF4-FFF2-40B4-BE49-F238E27FC236}">
                <a16:creationId xmlns:a16="http://schemas.microsoft.com/office/drawing/2014/main" id="{3D474365-3486-4639-95BA-E4015E8D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05400"/>
            <a:ext cx="3524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F7DDD6"/>
          </a:solidFill>
          <a:ln xmlns:a="http://schemas.openxmlformats.org/drawingml/2006/main" w="12383">
            <a:solidFill>
              <a:srgbClr val="E2AA9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4" name="primary-dlq-accent">
            <a:extLst xmlns:a="http://schemas.openxmlformats.org/drawingml/2006/main">
              <a:ext uri="{FF2B5EF4-FFF2-40B4-BE49-F238E27FC236}">
                <a16:creationId xmlns:a16="http://schemas.microsoft.com/office/drawing/2014/main" id="{069B7832-D70F-4BBC-91D2-79E29DC1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054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3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1dbcd65ae4afe"/>
          <a:stretch xmlns:a="http://schemas.openxmlformats.org/drawingml/2006/main"/>
        </p:blipFill>
        <p:spPr>
          <a:xfrm xmlns:a="http://schemas.openxmlformats.org/drawingml/2006/main">
            <a:off x="5238750" y="5343848"/>
            <a:ext cx="514350" cy="418454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D42943-21C7-459D-93F6-8DF628AF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768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orders-demo.DLQ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90F4B9-3348-4B99-96A4-16B649AA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629275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Permanent failures after configured attempts.</a:t>
            </a:r>
          </a:p>
        </p:txBody>
      </p:sp>
      <p:sp>
        <p:nvSpPr>
          <p:cNvPr id="48" name="primary-observability">
            <a:extLst xmlns:a="http://schemas.openxmlformats.org/drawingml/2006/main">
              <a:ext uri="{FF2B5EF4-FFF2-40B4-BE49-F238E27FC236}">
                <a16:creationId xmlns:a16="http://schemas.microsoft.com/office/drawing/2014/main" id="{F6F399D2-3B44-4666-A32A-F5F0702E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6524625"/>
            <a:ext cx="35242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2383">
            <a:solidFill>
              <a:srgbClr val="BADBD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primary-observability-accent">
            <a:extLst xmlns:a="http://schemas.openxmlformats.org/drawingml/2006/main">
              <a:ext uri="{FF2B5EF4-FFF2-40B4-BE49-F238E27FC236}">
                <a16:creationId xmlns:a16="http://schemas.microsoft.com/office/drawing/2014/main" id="{3E3BEFDD-9052-4E5E-B57E-36C87FF6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6524625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C6C"/>
          </a:solidFill>
          <a:ln xmlns:a="http://schemas.openxmlformats.org/drawingml/2006/main" w="0">
            <a:solidFill>
              <a:srgbClr val="759C6C"/>
            </a:solidFill>
            <a:prstDash val="solid"/>
          </a:ln>
        </p:spPr>
      </p:sp>
      <p:pic>
        <p:nvPicPr>
          <p:cNvPr id="3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a0c4ac5d441d2"/>
          <a:stretch xmlns:a="http://schemas.openxmlformats.org/drawingml/2006/main"/>
        </p:blipFill>
        <p:spPr>
          <a:xfrm xmlns:a="http://schemas.openxmlformats.org/drawingml/2006/main">
            <a:off x="5238750" y="6751864"/>
            <a:ext cx="514350" cy="440871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4DD026-D837-44A8-87CF-D0D9971A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669607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Lag + Actuator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B8E69C-16CB-4316-BB84-23DF9072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0485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AdminClient, /actuator/metrics and /actuator/prometheus.</a:t>
            </a:r>
          </a:p>
        </p:txBody>
      </p:sp>
      <p:sp>
        <p:nvSpPr>
          <p:cNvPr id="53" name="failover-control">
            <a:extLst xmlns:a="http://schemas.openxmlformats.org/drawingml/2006/main">
              <a:ext uri="{FF2B5EF4-FFF2-40B4-BE49-F238E27FC236}">
                <a16:creationId xmlns:a16="http://schemas.microsoft.com/office/drawing/2014/main" id="{A8A74808-5757-4500-8CBC-B1669D4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43150"/>
            <a:ext cx="35623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6E6C8"/>
          </a:solidFill>
          <a:ln xmlns:a="http://schemas.openxmlformats.org/drawingml/2006/main" w="12383">
            <a:solidFill>
              <a:srgbClr val="E2C9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4" name="failover-control-accent">
            <a:extLst xmlns:a="http://schemas.openxmlformats.org/drawingml/2006/main">
              <a:ext uri="{FF2B5EF4-FFF2-40B4-BE49-F238E27FC236}">
                <a16:creationId xmlns:a16="http://schemas.microsoft.com/office/drawing/2014/main" id="{9E02D0E1-7258-446E-A265-B32EAF97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431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3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d6f8e0da04f65"/>
          <a:stretch xmlns:a="http://schemas.openxmlformats.org/drawingml/2006/main"/>
        </p:blipFill>
        <p:spPr>
          <a:xfrm xmlns:a="http://schemas.openxmlformats.org/drawingml/2006/main">
            <a:off x="10172700" y="2588458"/>
            <a:ext cx="514350" cy="404734"/>
          </a:xfrm>
          <a:prstGeom xmlns:a="http://schemas.openxmlformats.org/drawingml/2006/main" prst="rect">
            <a:avLst/>
          </a:prstGeom>
        </p:spPr>
      </p:pic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0953D52-EBAE-4AC7-AB23-27331BE5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51460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Failover coordinator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D5E383C-CE25-40A2-981D-AEFE7118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867025"/>
            <a:ext cx="2609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Detects timeout/500/429 and invokes the OCI SDK.</a:t>
            </a:r>
          </a:p>
        </p:txBody>
      </p:sp>
      <p:sp>
        <p:nvSpPr>
          <p:cNvPr id="58" name="secondary-stream">
            <a:extLst xmlns:a="http://schemas.openxmlformats.org/drawingml/2006/main">
              <a:ext uri="{FF2B5EF4-FFF2-40B4-BE49-F238E27FC236}">
                <a16:creationId xmlns:a16="http://schemas.microsoft.com/office/drawing/2014/main" id="{20DD67A5-B2BB-4D68-A08B-33389326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29050"/>
            <a:ext cx="356235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2383">
            <a:solidFill>
              <a:srgbClr val="E2C9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9" name="secondary-stream-accent">
            <a:extLst xmlns:a="http://schemas.openxmlformats.org/drawingml/2006/main">
              <a:ext uri="{FF2B5EF4-FFF2-40B4-BE49-F238E27FC236}">
                <a16:creationId xmlns:a16="http://schemas.microsoft.com/office/drawing/2014/main" id="{6497A63A-0F43-428C-9EF9-89284B2E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290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3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486c714a440d8"/>
          <a:stretch xmlns:a="http://schemas.openxmlformats.org/drawingml/2006/main"/>
        </p:blipFill>
        <p:spPr>
          <a:xfrm xmlns:a="http://schemas.openxmlformats.org/drawingml/2006/main">
            <a:off x="10172700" y="4102860"/>
            <a:ext cx="514350" cy="347730"/>
          </a:xfrm>
          <a:prstGeom xmlns:a="http://schemas.openxmlformats.org/drawingml/2006/main" prst="rect">
            <a:avLst/>
          </a:prstGeom>
        </p:spPr>
      </p:pic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1C1BC7D-DB36-408A-8932-77FACE95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00050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Secondary OCI Streaming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E997D6-9EEC-4D68-ADFE-0AA4E625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352925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Stream created or reused in sa-vinhedo-1.</a:t>
            </a:r>
          </a:p>
        </p:txBody>
      </p:sp>
      <p:sp>
        <p:nvSpPr>
          <p:cNvPr id="63" name="secondary-dlq">
            <a:extLst xmlns:a="http://schemas.openxmlformats.org/drawingml/2006/main">
              <a:ext uri="{FF2B5EF4-FFF2-40B4-BE49-F238E27FC236}">
                <a16:creationId xmlns:a16="http://schemas.microsoft.com/office/drawing/2014/main" id="{88975C1E-E783-4B8B-89E7-8DEE86A0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10200"/>
            <a:ext cx="3562350" cy="1028700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rgbClr val="F7DDD6"/>
          </a:solidFill>
          <a:ln xmlns:a="http://schemas.openxmlformats.org/drawingml/2006/main" w="12383">
            <a:solidFill>
              <a:srgbClr val="E2AA9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4" name="secondary-dlq-accent">
            <a:extLst xmlns:a="http://schemas.openxmlformats.org/drawingml/2006/main">
              <a:ext uri="{FF2B5EF4-FFF2-40B4-BE49-F238E27FC236}">
                <a16:creationId xmlns:a16="http://schemas.microsoft.com/office/drawing/2014/main" id="{AB4A758C-2896-4824-AD0C-44F95F00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102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3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b217b61f54b6c"/>
          <a:stretch xmlns:a="http://schemas.openxmlformats.org/drawingml/2006/main"/>
        </p:blipFill>
        <p:spPr>
          <a:xfrm xmlns:a="http://schemas.openxmlformats.org/drawingml/2006/main">
            <a:off x="10172700" y="5648648"/>
            <a:ext cx="514350" cy="418454"/>
          </a:xfrm>
          <a:prstGeom xmlns:a="http://schemas.openxmlformats.org/drawingml/2006/main" prst="rect">
            <a:avLst/>
          </a:prstGeom>
        </p:spPr>
      </p:pic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A03B195-CE59-40BE-A592-6623C96F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58165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Secondary DLQ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7880A42-E140-4CA4-9C2F-2C17C2A6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934075"/>
            <a:ext cx="2609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Keeps permanent failures isolated after the switch.</a:t>
            </a:r>
          </a:p>
        </p:txBody>
      </p:sp>
      <p:cxnSp>
        <p:nvCxnSpPr>
          <p:cNvPr id="343" name=""/>
          <p:cNvCxnSpPr>
            <a:stCxn xmlns:a="http://schemas.openxmlformats.org/drawingml/2006/main" id="13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2381250" y="33718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C5967"/>
            </a:solidFill>
            <a:prstDash val="solid"/>
            <a:tailEnd type="arrow" w="med" len="med"/>
          </a:ln>
        </p:spPr>
      </p:cxn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5640A17-2E51-4142-9D4A-FDF74F79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4861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C5967"/>
                </a:solidFill>
              </a:defRPr>
            </a:pPr>
            <a:r>
              <a:rPr sz="900" b="1">
                <a:solidFill>
                  <a:srgbClr val="2C5967"/>
                </a:solidFill>
              </a:rPr>
              <a:t>runs</a:t>
            </a:r>
          </a:p>
        </p:txBody>
      </p:sp>
      <p:cxnSp>
        <p:nvCxnSpPr>
          <p:cNvPr id="345" name=""/>
          <p:cNvCxnSpPr>
            <a:stCxn xmlns:a="http://schemas.openxmlformats.org/drawingml/2006/main" id="18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 flipV="1">
            <a:off x="3810000" y="4076700"/>
            <a:ext cx="1257300" cy="400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C5967"/>
            </a:solidFill>
            <a:prstDash val="solid"/>
            <a:tailEnd type="arrow" w="med" len="med"/>
          </a:ln>
        </p:spPr>
      </p:cxn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FF1592-96AF-48A2-9574-E65FD896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05275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C5967"/>
                </a:solidFill>
              </a:defRPr>
            </a:pPr>
            <a:r>
              <a:rPr sz="900" b="1">
                <a:solidFill>
                  <a:srgbClr val="2C5967"/>
                </a:solidFill>
              </a:rPr>
              <a:t>publish</a:t>
            </a:r>
          </a:p>
        </p:txBody>
      </p:sp>
      <p:cxnSp>
        <p:nvCxnSpPr>
          <p:cNvPr id="347" name=""/>
          <p:cNvCxnSpPr>
            <a:stCxn xmlns:a="http://schemas.openxmlformats.org/drawingml/2006/main" id="38" idx="1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H="1">
            <a:off x="3810000" y="4076700"/>
            <a:ext cx="1257300" cy="400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759C6C"/>
            </a:solidFill>
            <a:prstDash val="dash"/>
            <a:tailEnd type="arrow" w="med" len="med"/>
          </a:ln>
        </p:spPr>
      </p:cxnSp>
      <p:cxnSp>
        <p:nvCxnSpPr>
          <p:cNvPr id="348" name=""/>
          <p:cNvCxnSpPr>
            <a:stCxn xmlns:a="http://schemas.openxmlformats.org/drawingml/2006/main" id="18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2381250" y="5105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759C6C"/>
            </a:solidFill>
            <a:prstDash val="solid"/>
            <a:tailEnd type="arrow" w="med" len="med"/>
          </a:ln>
        </p:spPr>
      </p:cxn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4F509D5-71DF-4787-84EF-3B4B6DC3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81588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759C6C"/>
                </a:solidFill>
              </a:defRPr>
            </a:pPr>
            <a:r>
              <a:rPr sz="900" b="1">
                <a:solidFill>
                  <a:srgbClr val="759C6C"/>
                </a:solidFill>
              </a:rPr>
              <a:t>idempotency</a:t>
            </a:r>
          </a:p>
        </p:txBody>
      </p:sp>
      <p:cxnSp>
        <p:nvCxnSpPr>
          <p:cNvPr id="350" name=""/>
          <p:cNvCxnSpPr>
            <a:stCxn xmlns:a="http://schemas.openxmlformats.org/drawingml/2006/main" id="18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3810000" y="4476750"/>
            <a:ext cx="1257300" cy="1152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74634"/>
            </a:solidFill>
            <a:prstDash val="dash"/>
            <a:tailEnd type="arrow" w="med" len="med"/>
          </a:ln>
        </p:spPr>
      </p:cxnSp>
      <p:cxnSp>
        <p:nvCxnSpPr>
          <p:cNvPr id="351" name=""/>
          <p:cNvCxnSpPr>
            <a:stCxn xmlns:a="http://schemas.openxmlformats.org/drawingml/2006/main" id="38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6829425" y="4629150"/>
            <a:ext cx="0" cy="1895475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759C6C"/>
            </a:solidFill>
            <a:prstDash val="dash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EF082F1-84AC-4124-BA4B-38C11F6A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3340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759C6C"/>
                </a:solidFill>
              </a:defRPr>
            </a:pPr>
            <a:r>
              <a:rPr sz="900" b="1">
                <a:solidFill>
                  <a:srgbClr val="759C6C"/>
                </a:solidFill>
              </a:rPr>
              <a:t>lag</a:t>
            </a:r>
          </a:p>
        </p:txBody>
      </p:sp>
      <p:cxnSp>
        <p:nvCxnSpPr>
          <p:cNvPr id="353" name=""/>
          <p:cNvCxnSpPr>
            <a:stCxn xmlns:a="http://schemas.openxmlformats.org/drawingml/2006/main" id="18" idx="3"/>
            <a:endCxn xmlns:a="http://schemas.openxmlformats.org/drawingml/2006/main" id="53" idx="1"/>
          </p:cNvCxnSpPr>
          <p:nvPr/>
        </p:nvCxnSpPr>
        <p:spPr>
          <a:xfrm xmlns:a="http://schemas.openxmlformats.org/drawingml/2006/main" flipV="1">
            <a:off x="3810000" y="2838450"/>
            <a:ext cx="6191250" cy="1638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74634"/>
            </a:solidFill>
            <a:prstDash val="dash"/>
            <a:tailEnd type="arrow" w="med" len="med"/>
          </a:ln>
        </p:spPr>
      </p:cxnSp>
      <p:cxnSp>
        <p:nvCxnSpPr>
          <p:cNvPr id="354" name=""/>
          <p:cNvCxnSpPr>
            <a:stCxn xmlns:a="http://schemas.openxmlformats.org/drawingml/2006/main" id="53" idx="2"/>
            <a:endCxn xmlns:a="http://schemas.openxmlformats.org/drawingml/2006/main" id="58" idx="0"/>
          </p:cNvCxnSpPr>
          <p:nvPr/>
        </p:nvCxnSpPr>
        <p:spPr>
          <a:xfrm xmlns:a="http://schemas.openxmlformats.org/drawingml/2006/main">
            <a:off x="11782425" y="33337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74634"/>
            </a:solidFill>
            <a:prstDash val="solid"/>
            <a:tailEnd type="arrow" w="med" len="med"/>
          </a:ln>
        </p:spPr>
      </p:cxn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225A0EC-BB08-4670-93AB-7F964FB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438525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74634"/>
                </a:solidFill>
              </a:defRPr>
            </a:pPr>
            <a:r>
              <a:rPr sz="900" b="1">
                <a:solidFill>
                  <a:srgbClr val="C74634"/>
                </a:solidFill>
              </a:rPr>
              <a:t>create/reuse</a:t>
            </a:r>
          </a:p>
        </p:txBody>
      </p:sp>
      <p:cxnSp>
        <p:nvCxnSpPr>
          <p:cNvPr id="356" name=""/>
          <p:cNvCxnSpPr>
            <a:stCxn xmlns:a="http://schemas.openxmlformats.org/drawingml/2006/main" id="53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3810000" y="2838450"/>
            <a:ext cx="6191250" cy="42195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6F6A65"/>
            </a:solidFill>
            <a:prstDash val="dash"/>
            <a:tailEnd type="arrow" w="med" len="med"/>
          </a:ln>
        </p:spPr>
      </p:cxnSp>
      <p:cxnSp>
        <p:nvCxnSpPr>
          <p:cNvPr id="357" name=""/>
          <p:cNvCxnSpPr>
            <a:stCxn xmlns:a="http://schemas.openxmlformats.org/drawingml/2006/main" id="28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 flipV="1">
            <a:off x="3810000" y="4381500"/>
            <a:ext cx="6191250" cy="2676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74634"/>
            </a:solidFill>
            <a:prstDash val="dash"/>
            <a:tailEnd type="arrow" w="med" len="med"/>
          </a:ln>
        </p:spPr>
      </p:cxnSp>
      <p:cxnSp>
        <p:nvCxnSpPr>
          <p:cNvPr id="358" name=""/>
          <p:cNvCxnSpPr>
            <a:stCxn xmlns:a="http://schemas.openxmlformats.org/drawingml/2006/main" id="58" idx="2"/>
            <a:endCxn xmlns:a="http://schemas.openxmlformats.org/drawingml/2006/main" id="63" idx="0"/>
          </p:cNvCxnSpPr>
          <p:nvPr/>
        </p:nvCxnSpPr>
        <p:spPr>
          <a:xfrm xmlns:a="http://schemas.openxmlformats.org/drawingml/2006/main">
            <a:off x="11782425" y="493395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74634"/>
            </a:solidFill>
            <a:prstDash val="dash"/>
            <a:tailEnd type="arrow" w="med" len="med"/>
          </a:ln>
        </p:spPr>
      </p:cxn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32AAED-C95C-458F-B6F7-43F9D5B2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4981575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74634"/>
                </a:solidFill>
              </a:defRPr>
            </a:pPr>
            <a:r>
              <a:rPr sz="900" b="1">
                <a:solidFill>
                  <a:srgbClr val="C74634"/>
                </a:solidFill>
              </a:rPr>
              <a:t>failures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5D08287-8B4E-408B-BBCF-D037575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343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</a:rPr>
              <a:t>Legend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0A1D681-0C5F-4523-BB3D-6A0CBA55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7734300"/>
            <a:ext cx="885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Blue: send/active stream  |  Green: consumption, idempotency, and lag  |  Orange: regional failover  |  Red: DLQ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88FE5A7-CEDE-4DE6-BFB7-C6D6C263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7343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7404A"/>
                </a:solidFill>
              </a:defRPr>
            </a:pPr>
            <a:r>
              <a:rPr sz="1050" b="1">
                <a:solidFill>
                  <a:srgbClr val="17404A"/>
                </a:solidFill>
              </a:rPr>
              <a:t>Manual commit occurs only after the batch succeeds.</a:t>
            </a:r>
          </a:p>
        </p:txBody>
      </p:sp>
    </p:spTree>
    <p:extLst>
      <p:ext uri="{BB962C8B-B14F-4D97-AF65-F5344CB8AC3E}">
        <p14:creationId xmlns:p14="http://schemas.microsoft.com/office/powerpoint/2010/main" val="19466917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CC4A09F-1796-4CBF-9050-19C17CEC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12D2A"/>
                </a:solidFill>
              </a:defRPr>
            </a:pPr>
            <a:r>
              <a:rPr sz="3150" b="1">
                <a:solidFill>
                  <a:srgbClr val="312D2A"/>
                </a:solidFill>
              </a:rPr>
              <a:t>Technical failover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F4153-A9E5-45E9-9D4B-647B82D6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715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F6A65"/>
                </a:solidFill>
              </a:defRPr>
            </a:pPr>
            <a:r>
              <a:rPr sz="1350" b="0">
                <a:solidFill>
                  <a:srgbClr val="6F6A65"/>
                </a:solidFill>
              </a:rPr>
              <a:t>How the application switches endpoints, persists state, and resumes producer/consumer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09623B-EB19-4CCE-A2F7-0FA90A24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905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F6A65"/>
                </a:solidFill>
              </a:defRPr>
            </a:pPr>
            <a:r>
              <a:rPr sz="900" b="0">
                <a:solidFill>
                  <a:srgbClr val="6F6A65"/>
                </a:solidFill>
              </a:rPr>
              <a:t>Visual source: OCI_Icons.pptx / OCI Architecture Diagram Toolkit</a:t>
            </a:r>
          </a:p>
        </p:txBody>
      </p:sp>
      <p:sp>
        <p:nvSpPr>
          <p:cNvPr id="4" name="step-1">
            <a:extLst xmlns:a="http://schemas.openxmlformats.org/drawingml/2006/main">
              <a:ext uri="{FF2B5EF4-FFF2-40B4-BE49-F238E27FC236}">
                <a16:creationId xmlns:a16="http://schemas.microsoft.com/office/drawing/2014/main" id="{A2E1AA43-97FA-40FA-87C2-DFAE81CA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step-1-accent">
            <a:extLst xmlns:a="http://schemas.openxmlformats.org/drawingml/2006/main">
              <a:ext uri="{FF2B5EF4-FFF2-40B4-BE49-F238E27FC236}">
                <a16:creationId xmlns:a16="http://schemas.microsoft.com/office/drawing/2014/main" id="{44EB5768-9FAC-413A-A1BB-FAC3565A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2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83c3d99574d98"/>
          <a:stretch xmlns:a="http://schemas.openxmlformats.org/drawingml/2006/main"/>
        </p:blipFill>
        <p:spPr>
          <a:xfrm xmlns:a="http://schemas.openxmlformats.org/drawingml/2006/main">
            <a:off x="762000" y="2367412"/>
            <a:ext cx="514350" cy="46582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8EE32-3116-43F0-AD51-406676E9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Failure detected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F3FE1-5C74-471F-B515-FE56EF36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Producer or health check detects timeout, 500, 429, or disconnection.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828EC-815C-443F-939D-6B043592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3562712D-40C2-42C8-B6C6-7B46D18A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step-2-accent">
            <a:extLst xmlns:a="http://schemas.openxmlformats.org/drawingml/2006/main">
              <a:ext uri="{FF2B5EF4-FFF2-40B4-BE49-F238E27FC236}">
                <a16:creationId xmlns:a16="http://schemas.microsoft.com/office/drawing/2014/main" id="{30826132-E104-49F0-88CB-14D05082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2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495014120462c"/>
          <a:stretch xmlns:a="http://schemas.openxmlformats.org/drawingml/2006/main"/>
        </p:blipFill>
        <p:spPr>
          <a:xfrm xmlns:a="http://schemas.openxmlformats.org/drawingml/2006/main">
            <a:off x="3162300" y="2397958"/>
            <a:ext cx="514350" cy="404734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6BE0B4-3382-4DC7-9305-D8D94D9A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HA coord.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00A543-127D-4C79-A681-330F4CE9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Controls one active switch at a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80CCFC-5552-434F-BDB7-EFD65DC1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069D1ADA-C0B0-4CFC-8DED-AD6D1A0C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step-3-accent">
            <a:extLst xmlns:a="http://schemas.openxmlformats.org/drawingml/2006/main">
              <a:ext uri="{FF2B5EF4-FFF2-40B4-BE49-F238E27FC236}">
                <a16:creationId xmlns:a16="http://schemas.microsoft.com/office/drawing/2014/main" id="{1DD9AD17-5F93-49D7-BECC-A2010BA4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0">
            <a:solidFill>
              <a:srgbClr val="2C5967"/>
            </a:solidFill>
            <a:prstDash val="solid"/>
          </a:ln>
        </p:spPr>
      </p:sp>
      <p:pic>
        <p:nvPicPr>
          <p:cNvPr id="2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a139168f64dd2"/>
          <a:stretch xmlns:a="http://schemas.openxmlformats.org/drawingml/2006/main"/>
        </p:blipFill>
        <p:spPr>
          <a:xfrm xmlns:a="http://schemas.openxmlformats.org/drawingml/2006/main">
            <a:off x="5562600" y="2377117"/>
            <a:ext cx="514350" cy="446417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BD5997-E9B5-4ACB-BC98-8B20C193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OCI SDK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3A990-8792-455B-9FF7-F9C0481D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Uses ~/.oci/config, profile, and target compartment.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4487E4-20DD-4AB9-A962-30CF23B5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step-4">
            <a:extLst xmlns:a="http://schemas.openxmlformats.org/drawingml/2006/main">
              <a:ext uri="{FF2B5EF4-FFF2-40B4-BE49-F238E27FC236}">
                <a16:creationId xmlns:a16="http://schemas.microsoft.com/office/drawing/2014/main" id="{FD21523D-F2E9-4DD5-ABAA-12089FDF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step-4-accent">
            <a:extLst xmlns:a="http://schemas.openxmlformats.org/drawingml/2006/main">
              <a:ext uri="{FF2B5EF4-FFF2-40B4-BE49-F238E27FC236}">
                <a16:creationId xmlns:a16="http://schemas.microsoft.com/office/drawing/2014/main" id="{482D645E-276B-48E3-8E9C-F4945CD9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2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2024a4bdc4617"/>
          <a:stretch xmlns:a="http://schemas.openxmlformats.org/drawingml/2006/main"/>
        </p:blipFill>
        <p:spPr>
          <a:xfrm xmlns:a="http://schemas.openxmlformats.org/drawingml/2006/main">
            <a:off x="7962900" y="2426460"/>
            <a:ext cx="514350" cy="34773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FE99A3-9B1A-4F88-9A58-F9D0C33A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Secondary stream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FDAE3D-FF1D-40A6-8204-0930943A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Creates or reuses primary stream and DLQ in the secondary region.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B768C-10D3-44E6-9982-A96BD159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step-5">
            <a:extLst xmlns:a="http://schemas.openxmlformats.org/drawingml/2006/main">
              <a:ext uri="{FF2B5EF4-FFF2-40B4-BE49-F238E27FC236}">
                <a16:creationId xmlns:a16="http://schemas.microsoft.com/office/drawing/2014/main" id="{9A57F6B1-1B2A-47FC-9CF0-375BF602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step-5-accent">
            <a:extLst xmlns:a="http://schemas.openxmlformats.org/drawingml/2006/main">
              <a:ext uri="{FF2B5EF4-FFF2-40B4-BE49-F238E27FC236}">
                <a16:creationId xmlns:a16="http://schemas.microsoft.com/office/drawing/2014/main" id="{3B5A9867-503B-4DFE-8613-A8109905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6A65"/>
          </a:solidFill>
          <a:ln xmlns:a="http://schemas.openxmlformats.org/drawingml/2006/main" w="0">
            <a:solidFill>
              <a:srgbClr val="6F6A65"/>
            </a:solidFill>
            <a:prstDash val="solid"/>
          </a:ln>
        </p:spPr>
      </p:sp>
      <p:pic>
        <p:nvPicPr>
          <p:cNvPr id="2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e66d000d94224"/>
          <a:stretch xmlns:a="http://schemas.openxmlformats.org/drawingml/2006/main"/>
        </p:blipFill>
        <p:spPr>
          <a:xfrm xmlns:a="http://schemas.openxmlformats.org/drawingml/2006/main">
            <a:off x="10363200" y="2376488"/>
            <a:ext cx="514350" cy="447675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0A3C7E-717B-4DA8-8A09-AC8FE675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Saved state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27E916-E71A-4905-BEFE-6306C91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Stores endpoint, Kafka bootstrap, and OCIDs.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A6662F-EBC1-4916-A092-A7EEC109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6A6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step-6">
            <a:extLst xmlns:a="http://schemas.openxmlformats.org/drawingml/2006/main">
              <a:ext uri="{FF2B5EF4-FFF2-40B4-BE49-F238E27FC236}">
                <a16:creationId xmlns:a16="http://schemas.microsoft.com/office/drawing/2014/main" id="{B470B4EC-A39C-44A2-BFCE-D682A216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2152650"/>
            <a:ext cx="2057400" cy="1504950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step-6-accent">
            <a:extLst xmlns:a="http://schemas.openxmlformats.org/drawingml/2006/main">
              <a:ext uri="{FF2B5EF4-FFF2-40B4-BE49-F238E27FC236}">
                <a16:creationId xmlns:a16="http://schemas.microsoft.com/office/drawing/2014/main" id="{0C08456D-AAA2-49FF-9DBF-694A5DE7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2152650"/>
            <a:ext cx="666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C6C"/>
          </a:solidFill>
          <a:ln xmlns:a="http://schemas.openxmlformats.org/drawingml/2006/main" w="0">
            <a:solidFill>
              <a:srgbClr val="759C6C"/>
            </a:solidFill>
            <a:prstDash val="solid"/>
          </a:ln>
        </p:spPr>
      </p:sp>
      <p:pic>
        <p:nvPicPr>
          <p:cNvPr id="2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3f603359b47b1"/>
          <a:stretch xmlns:a="http://schemas.openxmlformats.org/drawingml/2006/main"/>
        </p:blipFill>
        <p:spPr>
          <a:xfrm xmlns:a="http://schemas.openxmlformats.org/drawingml/2006/main">
            <a:off x="12763500" y="2394585"/>
            <a:ext cx="514350" cy="41148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0FE1E8-C41E-4CA1-94C4-7BCCA0F4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2324100"/>
            <a:ext cx="110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Clients restarted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1512C6-BE12-4A13-BF6E-AE21B4CE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2676525"/>
            <a:ext cx="110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Factories updated and Kafka listeners restarted.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2C4A4C-89DB-44B7-9282-3B1E8858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2019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9C6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257" name=""/>
          <p:cNvCxnSpPr>
            <a:stCxn xmlns:a="http://schemas.openxmlformats.org/drawingml/2006/main" id="4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479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C74634"/>
            </a:solidFill>
            <a:prstDash val="solid"/>
            <a:tailEnd type="arrow" w="med" len="med"/>
          </a:ln>
        </p:spPr>
      </p:cxnSp>
      <p:cxnSp>
        <p:nvCxnSpPr>
          <p:cNvPr id="258" name=""/>
          <p:cNvCxnSpPr>
            <a:stCxn xmlns:a="http://schemas.openxmlformats.org/drawingml/2006/main" id="10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0482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C74634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16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4485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C74634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22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98488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759C6C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28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122491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759C6C"/>
            </a:solidFill>
            <a:prstDash val="solid"/>
            <a:tailEnd type="arrow" w="med" len="med"/>
          </a:ln>
        </p:spPr>
      </p:cxnSp>
      <p:sp>
        <p:nvSpPr>
          <p:cNvPr id="45" name="Resultado operacional">
            <a:extLst xmlns:a="http://schemas.openxmlformats.org/drawingml/2006/main">
              <a:ext uri="{FF2B5EF4-FFF2-40B4-BE49-F238E27FC236}">
                <a16:creationId xmlns:a16="http://schemas.microsoft.com/office/drawing/2014/main" id="{4E9645BA-D3D8-4BA3-AF24-39F6C976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13792200" cy="2724150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FAFAF9"/>
          </a:solidFill>
          <a:ln xmlns:a="http://schemas.openxmlformats.org/drawingml/2006/main" w="14288">
            <a:solidFill>
              <a:srgbClr val="DAD7D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C556C6-8ABA-4528-A2E1-868FAE44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1337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404A"/>
                </a:solidFill>
              </a:defRPr>
            </a:pPr>
            <a:r>
              <a:rPr sz="1575" b="1">
                <a:solidFill>
                  <a:srgbClr val="17404A"/>
                </a:solidFill>
              </a:rPr>
              <a:t>Operational result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16DA1B-528F-4454-A999-17B4EF12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05375"/>
            <a:ext cx="1337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The application starts publishing and consuming from the saved new stream.</a:t>
            </a:r>
          </a:p>
        </p:txBody>
      </p:sp>
      <p:sp>
        <p:nvSpPr>
          <p:cNvPr id="48" name="producer-result">
            <a:extLst xmlns:a="http://schemas.openxmlformats.org/drawingml/2006/main">
              <a:ext uri="{FF2B5EF4-FFF2-40B4-BE49-F238E27FC236}">
                <a16:creationId xmlns:a16="http://schemas.microsoft.com/office/drawing/2014/main" id="{6F538720-0B17-44CA-900F-F4341744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14950"/>
            <a:ext cx="367665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producer-result-accent">
            <a:extLst xmlns:a="http://schemas.openxmlformats.org/drawingml/2006/main">
              <a:ext uri="{FF2B5EF4-FFF2-40B4-BE49-F238E27FC236}">
                <a16:creationId xmlns:a16="http://schemas.microsoft.com/office/drawing/2014/main" id="{74742F5A-6ACE-4AF1-B90A-C614B482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149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967"/>
          </a:solidFill>
          <a:ln xmlns:a="http://schemas.openxmlformats.org/drawingml/2006/main" w="0">
            <a:solidFill>
              <a:srgbClr val="2C5967"/>
            </a:solidFill>
            <a:prstDash val="solid"/>
          </a:ln>
        </p:spPr>
      </p:sp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136c3cd0564548"/>
          <a:stretch xmlns:a="http://schemas.openxmlformats.org/drawingml/2006/main"/>
        </p:blipFill>
        <p:spPr>
          <a:xfrm xmlns:a="http://schemas.openxmlformats.org/drawingml/2006/main">
            <a:off x="1333500" y="5591175"/>
            <a:ext cx="514350" cy="342900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2D22C1-9419-4488-83A1-28D2EE36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8640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Producer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7E6C60-BA3F-441A-B8C2-9421B378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38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Resends the message that triggered failover using the new bootstrap.</a:t>
            </a:r>
          </a:p>
        </p:txBody>
      </p:sp>
      <p:sp>
        <p:nvSpPr>
          <p:cNvPr id="53" name="stream-result">
            <a:extLst xmlns:a="http://schemas.openxmlformats.org/drawingml/2006/main">
              <a:ext uri="{FF2B5EF4-FFF2-40B4-BE49-F238E27FC236}">
                <a16:creationId xmlns:a16="http://schemas.microsoft.com/office/drawing/2014/main" id="{C24D6277-72E0-4DF7-82E2-AA5BD567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314950"/>
            <a:ext cx="367665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2383">
            <a:solidFill>
              <a:srgbClr val="E2C99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4" name="stream-result-accent">
            <a:extLst xmlns:a="http://schemas.openxmlformats.org/drawingml/2006/main">
              <a:ext uri="{FF2B5EF4-FFF2-40B4-BE49-F238E27FC236}">
                <a16:creationId xmlns:a16="http://schemas.microsoft.com/office/drawing/2014/main" id="{6B7FA0A5-DE53-4114-B045-49C159F6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53149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58929b7bb4bed"/>
          <a:stretch xmlns:a="http://schemas.openxmlformats.org/drawingml/2006/main"/>
        </p:blipFill>
        <p:spPr>
          <a:xfrm xmlns:a="http://schemas.openxmlformats.org/drawingml/2006/main">
            <a:off x="5962650" y="5588760"/>
            <a:ext cx="514350" cy="347730"/>
          </a:xfrm>
          <a:prstGeom xmlns:a="http://schemas.openxmlformats.org/drawingml/2006/main" prst="rect">
            <a:avLst/>
          </a:prstGeom>
        </p:spPr>
      </p:pic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393FB64-9871-44F8-84D7-615912A1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48640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Secondary OCI Streaming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D7F1D1-85C8-4824-AB92-8912B96E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38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Logical topic preserved or configured secondary name.</a:t>
            </a:r>
          </a:p>
        </p:txBody>
      </p:sp>
      <p:sp>
        <p:nvSpPr>
          <p:cNvPr id="58" name="consumer-result">
            <a:extLst xmlns:a="http://schemas.openxmlformats.org/drawingml/2006/main">
              <a:ext uri="{FF2B5EF4-FFF2-40B4-BE49-F238E27FC236}">
                <a16:creationId xmlns:a16="http://schemas.microsoft.com/office/drawing/2014/main" id="{4C7EF193-3A09-41E7-A3FC-96770B3F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5314950"/>
            <a:ext cx="367665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AD7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9" name="consumer-result-accent">
            <a:extLst xmlns:a="http://schemas.openxmlformats.org/drawingml/2006/main">
              <a:ext uri="{FF2B5EF4-FFF2-40B4-BE49-F238E27FC236}">
                <a16:creationId xmlns:a16="http://schemas.microsoft.com/office/drawing/2014/main" id="{0611C4D9-C53F-45BB-9A9E-080E85F2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5314950"/>
            <a:ext cx="666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9C6C"/>
          </a:solidFill>
          <a:ln xmlns:a="http://schemas.openxmlformats.org/drawingml/2006/main" w="0">
            <a:solidFill>
              <a:srgbClr val="759C6C"/>
            </a:solidFill>
            <a:prstDash val="solid"/>
          </a:ln>
        </p:spPr>
      </p:sp>
      <p:pic>
        <p:nvPicPr>
          <p:cNvPr id="2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5f6cf920e44bf"/>
          <a:stretch xmlns:a="http://schemas.openxmlformats.org/drawingml/2006/main"/>
        </p:blipFill>
        <p:spPr>
          <a:xfrm xmlns:a="http://schemas.openxmlformats.org/drawingml/2006/main">
            <a:off x="10591800" y="5583382"/>
            <a:ext cx="514350" cy="358486"/>
          </a:xfrm>
          <a:prstGeom xmlns:a="http://schemas.openxmlformats.org/drawingml/2006/main" prst="rect">
            <a:avLst/>
          </a:prstGeom>
        </p:spPr>
      </p:pic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B4D8D1-BC24-4347-9F8D-D320B4FA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548640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12D2A"/>
                </a:solidFill>
              </a:defRPr>
            </a:pPr>
            <a:r>
              <a:rPr sz="1350" b="1">
                <a:solidFill>
                  <a:srgbClr val="312D2A"/>
                </a:solidFill>
              </a:rPr>
              <a:t>Batch consumer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1702939-A9F6-49CB-A0F2-F225137E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5838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F6A65"/>
                </a:solidFill>
              </a:defRPr>
            </a:pPr>
            <a:r>
              <a:rPr sz="975" b="0">
                <a:solidFill>
                  <a:srgbClr val="6F6A65"/>
                </a:solidFill>
              </a:rPr>
              <a:t>Restarted listener consumes from the persisted endpoint and commits after success.</a:t>
            </a:r>
          </a:p>
        </p:txBody>
      </p:sp>
      <p:cxnSp>
        <p:nvCxnSpPr>
          <p:cNvPr id="280" name=""/>
          <p:cNvCxnSpPr>
            <a:stCxn xmlns:a="http://schemas.openxmlformats.org/drawingml/2006/main" id="48" idx="3"/>
            <a:endCxn xmlns:a="http://schemas.openxmlformats.org/drawingml/2006/main" id="53" idx="1"/>
          </p:cNvCxnSpPr>
          <p:nvPr/>
        </p:nvCxnSpPr>
        <p:spPr>
          <a:xfrm xmlns:a="http://schemas.openxmlformats.org/drawingml/2006/main">
            <a:off x="4838700" y="58674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C5967"/>
            </a:solidFill>
            <a:prstDash val="solid"/>
            <a:tailEnd type="arrow" w="med" len="med"/>
          </a:ln>
        </p:spPr>
      </p:cxn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FABBE6-CBAD-433D-99F8-F61D6C44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95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C5967"/>
                </a:solidFill>
              </a:defRPr>
            </a:pPr>
            <a:r>
              <a:rPr sz="900" b="1">
                <a:solidFill>
                  <a:srgbClr val="2C5967"/>
                </a:solidFill>
              </a:rPr>
              <a:t>Kafka API</a:t>
            </a:r>
          </a:p>
        </p:txBody>
      </p:sp>
      <p:cxnSp>
        <p:nvCxnSpPr>
          <p:cNvPr id="282" name=""/>
          <p:cNvCxnSpPr>
            <a:stCxn xmlns:a="http://schemas.openxmlformats.org/drawingml/2006/main" id="53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9467850" y="58674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759C6C"/>
            </a:solidFill>
            <a:prstDash val="solid"/>
            <a:tailEnd type="arrow" w="med" len="med"/>
          </a:ln>
        </p:spPr>
      </p:cxn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F6F36AC-C4E6-4556-AA88-5796394B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6959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759C6C"/>
                </a:solidFill>
              </a:defRPr>
            </a:pPr>
            <a:r>
              <a:rPr sz="900" b="1">
                <a:solidFill>
                  <a:srgbClr val="759C6C"/>
                </a:solidFill>
              </a:rPr>
              <a:t>batch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773C796-3706-4A74-80C0-AC171619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38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</a:rPr>
              <a:t>Persisted file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2A822AB-1A5D-47DB-9327-EC3CDEC5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68389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6A65"/>
                </a:solidFill>
              </a:defRPr>
            </a:pPr>
            <a:r>
              <a:rPr sz="1050" b="0">
                <a:solidFill>
                  <a:srgbClr val="6F6A65"/>
                </a:solidFill>
              </a:rPr>
              <a:t>active.role=SECONDARY | secondary.kafka.bootstrap-servers=...:9092 | updated.at=&lt;timestamp&gt;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367F86-CFF8-44A9-9923-9CD898A9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38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C74634"/>
                </a:solidFill>
              </a:defRPr>
            </a:pPr>
            <a:r>
              <a:rPr sz="1050" b="1">
                <a:solidFill>
                  <a:srgbClr val="C74634"/>
                </a:solidFill>
              </a:rPr>
              <a:t>Retry + DLQ remain active after the switch.</a:t>
            </a:r>
          </a:p>
        </p:txBody>
      </p:sp>
    </p:spTree>
    <p:extLst>
      <p:ext uri="{BB962C8B-B14F-4D97-AF65-F5344CB8AC3E}">
        <p14:creationId xmlns:p14="http://schemas.microsoft.com/office/powerpoint/2010/main" val="11887539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2026-08-03T15:23:59.2320000Z</dcterms:created>
  <dcterms:modified xsi:type="dcterms:W3CDTF">2026-08-03T15:23:59.2320000Z</dcterms:modified>
</coreProperties>
</file>