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ed53fe22584195" /><Relationship Type="http://schemas.openxmlformats.org/officeDocument/2006/relationships/extended-properties" Target="/docProps/app.xml" Id="Rff84be26babe4e22" /><Relationship Type="http://schemas.openxmlformats.org/officeDocument/2006/relationships/officeDocument" Target="/ppt/presentation.xml" Id="R4422b3bbeada41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d297b611e54db9"/>
  </p:sldMasterIdLst>
  <p:notesMasterIdLst>
    <p:notesMasterId xmlns:r="http://schemas.openxmlformats.org/officeDocument/2006/relationships" r:id="R026c5dafc2b2459a"/>
  </p:notesMasterIdLst>
  <p:sldIdLst>
    <p:sldId xmlns:r="http://schemas.openxmlformats.org/officeDocument/2006/relationships" id="256" r:id="Ra5e261d87a714d3e"/>
    <p:sldId xmlns:r="http://schemas.openxmlformats.org/officeDocument/2006/relationships" id="257" r:id="R4e2062381cf0453b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50db817d0b4f20" /><Relationship Type="http://schemas.openxmlformats.org/officeDocument/2006/relationships/slideMaster" Target="/ppt/slideMasters/slideMaster1.xml" Id="R13d297b611e54db9" /><Relationship Type="http://schemas.openxmlformats.org/officeDocument/2006/relationships/notesMaster" Target="/ppt/notesMasters/notesMaster1.xml" Id="R026c5dafc2b2459a" /><Relationship Type="http://schemas.openxmlformats.org/officeDocument/2006/relationships/presProps" Target="/ppt/presProps.xml" Id="R293e2db1edfe4e95" /><Relationship Type="http://schemas.openxmlformats.org/officeDocument/2006/relationships/tableStyles" Target="/ppt/tableStyles.xml" Id="R0b63f5841e9841f9" /><Relationship Type="http://schemas.openxmlformats.org/officeDocument/2006/relationships/slide" Target="/ppt/slides/slide1.xml" Id="Ra5e261d87a714d3e" /><Relationship Type="http://schemas.openxmlformats.org/officeDocument/2006/relationships/slide" Target="/ppt/slides/slide2.xml" Id="R4e2062381cf045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817050d6754c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02d02ebd224dbc" /><Relationship Type="http://schemas.openxmlformats.org/officeDocument/2006/relationships/notesMaster" Target="/ppt/notesMasters/notesMaster1.xml" Id="Re8abcb30cbe04b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d0488c6681426d" /><Relationship Type="http://schemas.openxmlformats.org/officeDocument/2006/relationships/notesMaster" Target="/ppt/notesMasters/notesMaster1.xml" Id="R6518ecc31abb41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d54dfb18440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2fcc44250542cf" /><Relationship Type="http://schemas.openxmlformats.org/officeDocument/2006/relationships/slideLayout" Target="/ppt/slideLayouts/slideLayout1.xml" Id="Re9920e31403c43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920e31403c43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3fbd6d6b448d3" /><Relationship Type="http://schemas.openxmlformats.org/officeDocument/2006/relationships/image" Target="/ppt/media/image.png" Id="Rd4749321cd054a32" /><Relationship Type="http://schemas.openxmlformats.org/officeDocument/2006/relationships/image" Target="/ppt/media/image2.png" Id="Rba54e689d56845b4" /><Relationship Type="http://schemas.openxmlformats.org/officeDocument/2006/relationships/image" Target="/ppt/media/image3.png" Id="Rb9198e3db0f14b10" /><Relationship Type="http://schemas.openxmlformats.org/officeDocument/2006/relationships/image" Target="/ppt/media/image4.png" Id="Rffcbf4f42155416a" /><Relationship Type="http://schemas.openxmlformats.org/officeDocument/2006/relationships/image" Target="/ppt/media/image5.png" Id="Rf2f25a76aaeb45d8" /><Relationship Type="http://schemas.openxmlformats.org/officeDocument/2006/relationships/image" Target="/ppt/media/image6.png" Id="R3159f66c48104c6f" /><Relationship Type="http://schemas.openxmlformats.org/officeDocument/2006/relationships/image" Target="/ppt/media/image7.png" Id="R5984aab8800741f1" /><Relationship Type="http://schemas.openxmlformats.org/officeDocument/2006/relationships/image" Target="/ppt/media/image8.png" Id="R9c3baf14d0c6472c" /><Relationship Type="http://schemas.openxmlformats.org/officeDocument/2006/relationships/image" Target="/ppt/media/image9.png" Id="Red48bb98cdf74ae0" /><Relationship Type="http://schemas.openxmlformats.org/officeDocument/2006/relationships/image" Target="/ppt/media/image10.png" Id="Rab7883a36190417b" /><Relationship Type="http://schemas.openxmlformats.org/officeDocument/2006/relationships/image" Target="/ppt/media/image11.png" Id="R70ceb91116b94842" /><Relationship Type="http://schemas.openxmlformats.org/officeDocument/2006/relationships/notesSlide" Target="/ppt/notesSlides/notesSlide1.xml" Id="Rf2e8192c553d41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4bd2703a847d7" /><Relationship Type="http://schemas.openxmlformats.org/officeDocument/2006/relationships/image" Target="/ppt/media/image12.png" Id="R0c78d303fc7f47ef" /><Relationship Type="http://schemas.openxmlformats.org/officeDocument/2006/relationships/image" Target="/ppt/media/image13.png" Id="R0dfa0c8b228141f8" /><Relationship Type="http://schemas.openxmlformats.org/officeDocument/2006/relationships/image" Target="/ppt/media/image14.png" Id="R762e76c3e1bf46ee" /><Relationship Type="http://schemas.openxmlformats.org/officeDocument/2006/relationships/image" Target="/ppt/media/image15.png" Id="R7d28a6f9642b4a2f" /><Relationship Type="http://schemas.openxmlformats.org/officeDocument/2006/relationships/image" Target="/ppt/media/image16.png" Id="R39eef6b331f54f39" /><Relationship Type="http://schemas.openxmlformats.org/officeDocument/2006/relationships/image" Target="/ppt/media/image17.png" Id="R8dde80cc3cc64d9b" /><Relationship Type="http://schemas.openxmlformats.org/officeDocument/2006/relationships/image" Target="/ppt/media/image18.png" Id="Raa71483d29584573" /><Relationship Type="http://schemas.openxmlformats.org/officeDocument/2006/relationships/image" Target="/ppt/media/image19.png" Id="R3cd3faaefba24050" /><Relationship Type="http://schemas.openxmlformats.org/officeDocument/2006/relationships/image" Target="/ppt/media/image20.png" Id="Rcb3a8af90dcb4397" /><Relationship Type="http://schemas.openxmlformats.org/officeDocument/2006/relationships/notesSlide" Target="/ppt/notesSlides/notesSlide2.xml" Id="R28b089b052d443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6D50D7B-FF48-4DB9-88B0-93EBB9BE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12D2A"/>
                </a:solidFill>
              </a:defRPr>
            </a:pPr>
            <a:r>
              <a:rPr sz="3150" b="1">
                <a:solidFill>
                  <a:srgbClr val="312D2A"/>
                </a:solidFill>
              </a:rPr>
              <a:t>Arquitetura HA - Spring Boot + OCI Streaming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639F8-1C5D-46F1-ACE4-91E1F681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A65"/>
                </a:solidFill>
              </a:defRPr>
            </a:pPr>
            <a:r>
              <a:rPr sz="1350" b="0">
                <a:solidFill>
                  <a:srgbClr val="6F6A65"/>
                </a:solidFill>
              </a:rPr>
              <a:t>Producer e consumer Kafka API com failover automatico entre regioes OCI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966F1-1BEF-40EC-8ED5-6630706F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905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5"/>
                </a:solidFill>
              </a:defRPr>
            </a:pPr>
            <a:r>
              <a:rPr sz="900" b="0">
                <a:solidFill>
                  <a:srgbClr val="6F6A65"/>
                </a:solidFill>
              </a:rPr>
              <a:t>Fonte visual: OCI_Icons.pptx / OCI Architecture Diagram Toolkit</a:t>
            </a:r>
          </a:p>
        </p:txBody>
      </p:sp>
      <p:sp>
        <p:nvSpPr>
          <p:cNvPr id="4" name="Execucao da demo">
            <a:extLst xmlns:a="http://schemas.openxmlformats.org/drawingml/2006/main">
              <a:ext uri="{FF2B5EF4-FFF2-40B4-BE49-F238E27FC236}">
                <a16:creationId xmlns:a16="http://schemas.microsoft.com/office/drawing/2014/main" id="{AEF36402-CB13-4486-B9F8-D3F07936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543300" cy="56007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AD7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178A4-1877-4EC3-8125-122379B8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2D2A"/>
                </a:solidFill>
              </a:defRPr>
            </a:pPr>
            <a:r>
              <a:rPr sz="1575" b="1">
                <a:solidFill>
                  <a:srgbClr val="312D2A"/>
                </a:solidFill>
              </a:rPr>
              <a:t>Execucao da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02F5A-6A0F-4356-A91D-F22C21A4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5"/>
                </a:solidFill>
              </a:defRPr>
            </a:pPr>
            <a:r>
              <a:rPr sz="1050" b="0">
                <a:solidFill>
                  <a:srgbClr val="6F6A65"/>
                </a:solidFill>
              </a:rPr>
              <a:t>Console/Eclipse + app Spring Boot</a:t>
            </a:r>
          </a:p>
        </p:txBody>
      </p:sp>
      <p:sp>
        <p:nvSpPr>
          <p:cNvPr id="7" name="Regiao primaria">
            <a:extLst xmlns:a="http://schemas.openxmlformats.org/drawingml/2006/main">
              <a:ext uri="{FF2B5EF4-FFF2-40B4-BE49-F238E27FC236}">
                <a16:creationId xmlns:a16="http://schemas.microsoft.com/office/drawing/2014/main" id="{C2C56190-A082-4948-BCB3-EBD69477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19250"/>
            <a:ext cx="4476750" cy="560070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AFAF9"/>
          </a:solidFill>
          <a:ln xmlns:a="http://schemas.openxmlformats.org/drawingml/2006/main" w="14288">
            <a:solidFill>
              <a:srgbClr val="B9D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DC35B-87C3-4AB7-9B60-95DCA320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77165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404A"/>
                </a:solidFill>
              </a:defRPr>
            </a:pPr>
            <a:r>
              <a:rPr sz="1575" b="1">
                <a:solidFill>
                  <a:srgbClr val="17404A"/>
                </a:solidFill>
              </a:rPr>
              <a:t>Regiao primaria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DA941-135A-4AFB-98C0-6B8E9AEC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47875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5"/>
                </a:solidFill>
              </a:defRPr>
            </a:pPr>
            <a:r>
              <a:rPr sz="1050" b="0">
                <a:solidFill>
                  <a:srgbClr val="6F6A65"/>
                </a:solidFill>
              </a:rPr>
              <a:t>OCI Streaming ativo</a:t>
            </a:r>
          </a:p>
        </p:txBody>
      </p:sp>
      <p:sp>
        <p:nvSpPr>
          <p:cNvPr id="10" name="Regiao secundaria">
            <a:extLst xmlns:a="http://schemas.openxmlformats.org/drawingml/2006/main">
              <a:ext uri="{FF2B5EF4-FFF2-40B4-BE49-F238E27FC236}">
                <a16:creationId xmlns:a16="http://schemas.microsoft.com/office/drawing/2014/main" id="{12B80DEB-D495-429B-B06E-68A35409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19250"/>
            <a:ext cx="4476750" cy="5600700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14288">
            <a:solidFill>
              <a:srgbClr val="E7BF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7C925-BA7D-43D0-BBA5-68290ABC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71650"/>
            <a:ext cx="405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4634"/>
                </a:solidFill>
              </a:defRPr>
            </a:pPr>
            <a:r>
              <a:rPr sz="1575" b="1">
                <a:solidFill>
                  <a:srgbClr val="C74634"/>
                </a:solidFill>
              </a:rPr>
              <a:t>Regiao secundaria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0BA17-1EF5-4576-B64F-825FAE34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47875"/>
            <a:ext cx="405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5"/>
                </a:solidFill>
              </a:defRPr>
            </a:pPr>
            <a:r>
              <a:rPr sz="1050" b="0">
                <a:solidFill>
                  <a:srgbClr val="6F6A65"/>
                </a:solidFill>
              </a:rPr>
              <a:t>Criada ou reutilizada no failover</a:t>
            </a:r>
          </a:p>
        </p:txBody>
      </p:sp>
      <p:sp>
        <p:nvSpPr>
          <p:cNvPr id="13" name="operator">
            <a:extLst xmlns:a="http://schemas.openxmlformats.org/drawingml/2006/main">
              <a:ext uri="{FF2B5EF4-FFF2-40B4-BE49-F238E27FC236}">
                <a16:creationId xmlns:a16="http://schemas.microsoft.com/office/drawing/2014/main" id="{8972A37E-871D-48B5-8A48-E4E1B1D3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2857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7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operator-accent">
            <a:extLst xmlns:a="http://schemas.openxmlformats.org/drawingml/2006/main">
              <a:ext uri="{FF2B5EF4-FFF2-40B4-BE49-F238E27FC236}">
                <a16:creationId xmlns:a16="http://schemas.microsoft.com/office/drawing/2014/main" id="{62E1D035-35A3-42ED-8B18-6EDE6553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7"/>
          </a:solidFill>
          <a:ln xmlns:a="http://schemas.openxmlformats.org/drawingml/2006/main" w="0">
            <a:solidFill>
              <a:srgbClr val="2C5967"/>
            </a:solidFill>
            <a:prstDash val="solid"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49321cd054a32"/>
          <a:stretch xmlns:a="http://schemas.openxmlformats.org/drawingml/2006/main"/>
        </p:blipFill>
        <p:spPr>
          <a:xfrm xmlns:a="http://schemas.openxmlformats.org/drawingml/2006/main">
            <a:off x="1179059" y="2495550"/>
            <a:ext cx="404132" cy="5143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956C8-A671-4C64-9CD5-F6BF7207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765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Operador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108AA-2EDF-47F0-A10A-AEC88BF5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289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Define a quantidade de mensagens pelo console do Eclipse.</a:t>
            </a:r>
          </a:p>
        </p:txBody>
      </p:sp>
      <p:sp>
        <p:nvSpPr>
          <p:cNvPr id="18" name="spring-app">
            <a:extLst xmlns:a="http://schemas.openxmlformats.org/drawingml/2006/main">
              <a:ext uri="{FF2B5EF4-FFF2-40B4-BE49-F238E27FC236}">
                <a16:creationId xmlns:a16="http://schemas.microsoft.com/office/drawing/2014/main" id="{15E29348-9026-4315-8125-6E6E8B99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28575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7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pring-app-accent">
            <a:extLst xmlns:a="http://schemas.openxmlformats.org/drawingml/2006/main">
              <a:ext uri="{FF2B5EF4-FFF2-40B4-BE49-F238E27FC236}">
                <a16:creationId xmlns:a16="http://schemas.microsoft.com/office/drawing/2014/main" id="{3DEFAF85-49B1-404E-BA72-469D778C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4e689d56845b4"/>
          <a:stretch xmlns:a="http://schemas.openxmlformats.org/drawingml/2006/main"/>
        </p:blipFill>
        <p:spPr>
          <a:xfrm xmlns:a="http://schemas.openxmlformats.org/drawingml/2006/main">
            <a:off x="1123950" y="4090035"/>
            <a:ext cx="514350" cy="41148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AE0DE1-5DAE-4804-A63B-C8324AAE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195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Spring Boot App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F8BB3-877D-4106-A763-4346C024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719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Producer, consumer batch, retry/DLQ, idempotencia e failover.</a:t>
            </a:r>
          </a:p>
        </p:txBody>
      </p:sp>
      <p:sp>
        <p:nvSpPr>
          <p:cNvPr id="23" name="h2-state">
            <a:extLst xmlns:a="http://schemas.openxmlformats.org/drawingml/2006/main">
              <a:ext uri="{FF2B5EF4-FFF2-40B4-BE49-F238E27FC236}">
                <a16:creationId xmlns:a16="http://schemas.microsoft.com/office/drawing/2014/main" id="{6830EEF3-F58D-4238-A9EC-A4BBFB29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2857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7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h2-state-accent">
            <a:extLst xmlns:a="http://schemas.openxmlformats.org/drawingml/2006/main">
              <a:ext uri="{FF2B5EF4-FFF2-40B4-BE49-F238E27FC236}">
                <a16:creationId xmlns:a16="http://schemas.microsoft.com/office/drawing/2014/main" id="{D7B57B38-3794-4D19-8E12-6A87B0AB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C6C"/>
          </a:solidFill>
          <a:ln xmlns:a="http://schemas.openxmlformats.org/drawingml/2006/main" w="0">
            <a:solidFill>
              <a:srgbClr val="759C6C"/>
            </a:solidFill>
            <a:prstDash val="solid"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98e3db0f14b10"/>
          <a:stretch xmlns:a="http://schemas.openxmlformats.org/drawingml/2006/main"/>
        </p:blipFill>
        <p:spPr>
          <a:xfrm xmlns:a="http://schemas.openxmlformats.org/drawingml/2006/main">
            <a:off x="1123950" y="5795963"/>
            <a:ext cx="514350" cy="44767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1C497D-70C1-4996-86AC-8A31D363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435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H2 processed_events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825D49-AC77-4F82-BD20-EA132FF5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96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Controle idempotente dos eventos ja processados.</a:t>
            </a:r>
          </a:p>
        </p:txBody>
      </p:sp>
      <p:sp>
        <p:nvSpPr>
          <p:cNvPr id="28" name="stream-properties">
            <a:extLst xmlns:a="http://schemas.openxmlformats.org/drawingml/2006/main">
              <a:ext uri="{FF2B5EF4-FFF2-40B4-BE49-F238E27FC236}">
                <a16:creationId xmlns:a16="http://schemas.microsoft.com/office/drawing/2014/main" id="{021F9E60-70EB-4D2E-86E1-9C106CDD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48450"/>
            <a:ext cx="28575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7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stream-properties-accent">
            <a:extLst xmlns:a="http://schemas.openxmlformats.org/drawingml/2006/main">
              <a:ext uri="{FF2B5EF4-FFF2-40B4-BE49-F238E27FC236}">
                <a16:creationId xmlns:a16="http://schemas.microsoft.com/office/drawing/2014/main" id="{A52ADF81-57A3-42E3-BC3E-0CF8953E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4845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A65"/>
          </a:solidFill>
          <a:ln xmlns:a="http://schemas.openxmlformats.org/drawingml/2006/main" w="0">
            <a:solidFill>
              <a:srgbClr val="6F6A65"/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bf4f42155416a"/>
          <a:stretch xmlns:a="http://schemas.openxmlformats.org/drawingml/2006/main"/>
        </p:blipFill>
        <p:spPr>
          <a:xfrm xmlns:a="http://schemas.openxmlformats.org/drawingml/2006/main">
            <a:off x="1123950" y="6863212"/>
            <a:ext cx="514350" cy="465826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AAD743-27AD-41E7-9134-7FE7F201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8199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stream.properties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629739-08A6-4C58-80D8-71AC494F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1723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Bootstrap secundario persistido apos failover.</a:t>
            </a:r>
          </a:p>
        </p:txBody>
      </p:sp>
      <p:sp>
        <p:nvSpPr>
          <p:cNvPr id="33" name="primary-network">
            <a:extLst xmlns:a="http://schemas.openxmlformats.org/drawingml/2006/main">
              <a:ext uri="{FF2B5EF4-FFF2-40B4-BE49-F238E27FC236}">
                <a16:creationId xmlns:a16="http://schemas.microsoft.com/office/drawing/2014/main" id="{53CC2792-6FB6-4002-9BB6-E7AC83F7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05050"/>
            <a:ext cx="35242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12383">
            <a:solidFill>
              <a:srgbClr val="A9CD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primary-network-accent">
            <a:extLst xmlns:a="http://schemas.openxmlformats.org/drawingml/2006/main">
              <a:ext uri="{FF2B5EF4-FFF2-40B4-BE49-F238E27FC236}">
                <a16:creationId xmlns:a16="http://schemas.microsoft.com/office/drawing/2014/main" id="{C44F3B48-8353-49D9-9999-9B547627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050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7"/>
          </a:solidFill>
          <a:ln xmlns:a="http://schemas.openxmlformats.org/drawingml/2006/main" w="0">
            <a:solidFill>
              <a:srgbClr val="2C5967"/>
            </a:solidFill>
            <a:prstDash val="solid"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25a76aaeb45d8"/>
          <a:stretch xmlns:a="http://schemas.openxmlformats.org/drawingml/2006/main"/>
        </p:blipFill>
        <p:spPr>
          <a:xfrm xmlns:a="http://schemas.openxmlformats.org/drawingml/2006/main">
            <a:off x="5238750" y="2567739"/>
            <a:ext cx="514350" cy="369971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C32C90-3BAA-4FBA-8CFC-E02A17BC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765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VCN / acesso Kafka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C55949-D6AA-4497-91E9-BEDB42C3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289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Conectividade para o endpoint Kafka compativel.</a:t>
            </a:r>
          </a:p>
        </p:txBody>
      </p:sp>
      <p:sp>
        <p:nvSpPr>
          <p:cNvPr id="38" name="primary-stream">
            <a:extLst xmlns:a="http://schemas.openxmlformats.org/drawingml/2006/main">
              <a:ext uri="{FF2B5EF4-FFF2-40B4-BE49-F238E27FC236}">
                <a16:creationId xmlns:a16="http://schemas.microsoft.com/office/drawing/2014/main" id="{3F6D94DE-39AE-4E0F-BE88-882741AA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24250"/>
            <a:ext cx="35242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7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primary-stream-accent">
            <a:extLst xmlns:a="http://schemas.openxmlformats.org/drawingml/2006/main">
              <a:ext uri="{FF2B5EF4-FFF2-40B4-BE49-F238E27FC236}">
                <a16:creationId xmlns:a16="http://schemas.microsoft.com/office/drawing/2014/main" id="{1123364C-5BFB-4068-8DB7-5E7FFDBB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242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7"/>
          </a:solidFill>
          <a:ln xmlns:a="http://schemas.openxmlformats.org/drawingml/2006/main" w="0">
            <a:solidFill>
              <a:srgbClr val="2C5967"/>
            </a:solidFill>
            <a:prstDash val="solid"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9f66c48104c6f"/>
          <a:stretch xmlns:a="http://schemas.openxmlformats.org/drawingml/2006/main"/>
        </p:blipFill>
        <p:spPr>
          <a:xfrm xmlns:a="http://schemas.openxmlformats.org/drawingml/2006/main">
            <a:off x="5238750" y="3798060"/>
            <a:ext cx="514350" cy="34773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936AE4-233A-40B4-8A0C-BEB60917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957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OCI Streaming - orders-demo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3AACB8-49CA-4C14-850C-6289CE65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4812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Stream principal com partition key consistente por orderId.</a:t>
            </a:r>
          </a:p>
        </p:txBody>
      </p:sp>
      <p:sp>
        <p:nvSpPr>
          <p:cNvPr id="43" name="primary-dlq">
            <a:extLst xmlns:a="http://schemas.openxmlformats.org/drawingml/2006/main">
              <a:ext uri="{FF2B5EF4-FFF2-40B4-BE49-F238E27FC236}">
                <a16:creationId xmlns:a16="http://schemas.microsoft.com/office/drawing/2014/main" id="{3D474365-3486-4639-95BA-E4015E8D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105400"/>
            <a:ext cx="3524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12383">
            <a:solidFill>
              <a:srgbClr val="E2AA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primary-dlq-accent">
            <a:extLst xmlns:a="http://schemas.openxmlformats.org/drawingml/2006/main">
              <a:ext uri="{FF2B5EF4-FFF2-40B4-BE49-F238E27FC236}">
                <a16:creationId xmlns:a16="http://schemas.microsoft.com/office/drawing/2014/main" id="{069B7832-D70F-4BBC-91D2-79E29DC1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1054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4aab8800741f1"/>
          <a:stretch xmlns:a="http://schemas.openxmlformats.org/drawingml/2006/main"/>
        </p:blipFill>
        <p:spPr>
          <a:xfrm xmlns:a="http://schemas.openxmlformats.org/drawingml/2006/main">
            <a:off x="5238750" y="5343848"/>
            <a:ext cx="514350" cy="418454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D42943-21C7-459D-93F6-8DF628AF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2768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orders-demo.DLQ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90F4B9-3348-4B99-96A4-16B649AA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6292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Falhas permanentes depois das tentativas configuradas.</a:t>
            </a:r>
          </a:p>
        </p:txBody>
      </p:sp>
      <p:sp>
        <p:nvSpPr>
          <p:cNvPr id="48" name="primary-observability">
            <a:extLst xmlns:a="http://schemas.openxmlformats.org/drawingml/2006/main">
              <a:ext uri="{FF2B5EF4-FFF2-40B4-BE49-F238E27FC236}">
                <a16:creationId xmlns:a16="http://schemas.microsoft.com/office/drawing/2014/main" id="{F6F399D2-3B44-4666-A32A-F5F0702E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524625"/>
            <a:ext cx="35242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2F8F7"/>
          </a:solidFill>
          <a:ln xmlns:a="http://schemas.openxmlformats.org/drawingml/2006/main" w="12383">
            <a:solidFill>
              <a:srgbClr val="BADB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primary-observability-accent">
            <a:extLst xmlns:a="http://schemas.openxmlformats.org/drawingml/2006/main">
              <a:ext uri="{FF2B5EF4-FFF2-40B4-BE49-F238E27FC236}">
                <a16:creationId xmlns:a16="http://schemas.microsoft.com/office/drawing/2014/main" id="{3E3BEFDD-9052-4E5E-B57E-36C87FF6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524625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C6C"/>
          </a:solidFill>
          <a:ln xmlns:a="http://schemas.openxmlformats.org/drawingml/2006/main" w="0">
            <a:solidFill>
              <a:srgbClr val="759C6C"/>
            </a:solidFill>
            <a:prstDash val="solid"/>
          </a:ln>
        </p:spPr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baf14d0c6472c"/>
          <a:stretch xmlns:a="http://schemas.openxmlformats.org/drawingml/2006/main"/>
        </p:blipFill>
        <p:spPr>
          <a:xfrm xmlns:a="http://schemas.openxmlformats.org/drawingml/2006/main">
            <a:off x="5238750" y="6751864"/>
            <a:ext cx="514350" cy="440871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4DD026-D837-44A8-87CF-D0D9971A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69607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Lag + Actuator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B8E69C-16CB-4316-BB84-23DF9072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7048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AdminClient, /actuator/metrics e /actuator/prometheus.</a:t>
            </a:r>
          </a:p>
        </p:txBody>
      </p:sp>
      <p:sp>
        <p:nvSpPr>
          <p:cNvPr id="53" name="failover-control">
            <a:extLst xmlns:a="http://schemas.openxmlformats.org/drawingml/2006/main">
              <a:ext uri="{FF2B5EF4-FFF2-40B4-BE49-F238E27FC236}">
                <a16:creationId xmlns:a16="http://schemas.microsoft.com/office/drawing/2014/main" id="{A8A74808-5757-4500-8CBC-B1669D44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43150"/>
            <a:ext cx="35623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6E6C8"/>
          </a:solidFill>
          <a:ln xmlns:a="http://schemas.openxmlformats.org/drawingml/2006/main" w="12383">
            <a:solidFill>
              <a:srgbClr val="E2C9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failover-control-accent">
            <a:extLst xmlns:a="http://schemas.openxmlformats.org/drawingml/2006/main">
              <a:ext uri="{FF2B5EF4-FFF2-40B4-BE49-F238E27FC236}">
                <a16:creationId xmlns:a16="http://schemas.microsoft.com/office/drawing/2014/main" id="{9E02D0E1-7258-446E-A265-B32EAF97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431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8bb98cdf74ae0"/>
          <a:stretch xmlns:a="http://schemas.openxmlformats.org/drawingml/2006/main"/>
        </p:blipFill>
        <p:spPr>
          <a:xfrm xmlns:a="http://schemas.openxmlformats.org/drawingml/2006/main">
            <a:off x="10172700" y="2588458"/>
            <a:ext cx="514350" cy="404734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953D52-EBAE-4AC7-AB23-27331BE5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1460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Failover coordinator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5E383C-CE25-40A2-981D-AEFE7118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6702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Detecta timeout/500/429 e aciona OCI SDK.</a:t>
            </a:r>
          </a:p>
        </p:txBody>
      </p:sp>
      <p:sp>
        <p:nvSpPr>
          <p:cNvPr id="58" name="secondary-stream">
            <a:extLst xmlns:a="http://schemas.openxmlformats.org/drawingml/2006/main">
              <a:ext uri="{FF2B5EF4-FFF2-40B4-BE49-F238E27FC236}">
                <a16:creationId xmlns:a16="http://schemas.microsoft.com/office/drawing/2014/main" id="{20DD67A5-B2BB-4D68-A08B-33389326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29050"/>
            <a:ext cx="35623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2383">
            <a:solidFill>
              <a:srgbClr val="E2C9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secondary-stream-accent">
            <a:extLst xmlns:a="http://schemas.openxmlformats.org/drawingml/2006/main">
              <a:ext uri="{FF2B5EF4-FFF2-40B4-BE49-F238E27FC236}">
                <a16:creationId xmlns:a16="http://schemas.microsoft.com/office/drawing/2014/main" id="{6497A63A-0F43-428C-9EF9-89284B2E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290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883a36190417b"/>
          <a:stretch xmlns:a="http://schemas.openxmlformats.org/drawingml/2006/main"/>
        </p:blipFill>
        <p:spPr>
          <a:xfrm xmlns:a="http://schemas.openxmlformats.org/drawingml/2006/main">
            <a:off x="10172700" y="4102860"/>
            <a:ext cx="514350" cy="34773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C1BC7D-DB36-408A-8932-77FACE95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OCI Streaming secundario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E997D6-9EEC-4D68-ADFE-0AA4E625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352925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Stream criado ou reutilizado em sa-vinhedo-1.</a:t>
            </a:r>
          </a:p>
        </p:txBody>
      </p:sp>
      <p:sp>
        <p:nvSpPr>
          <p:cNvPr id="63" name="secondary-dlq">
            <a:extLst xmlns:a="http://schemas.openxmlformats.org/drawingml/2006/main">
              <a:ext uri="{FF2B5EF4-FFF2-40B4-BE49-F238E27FC236}">
                <a16:creationId xmlns:a16="http://schemas.microsoft.com/office/drawing/2014/main" id="{88975C1E-E783-4B8B-89E7-8DEE86A0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10200"/>
            <a:ext cx="35623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7DDD6"/>
          </a:solidFill>
          <a:ln xmlns:a="http://schemas.openxmlformats.org/drawingml/2006/main" w="12383">
            <a:solidFill>
              <a:srgbClr val="E2AA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4" name="secondary-dlq-accent">
            <a:extLst xmlns:a="http://schemas.openxmlformats.org/drawingml/2006/main">
              <a:ext uri="{FF2B5EF4-FFF2-40B4-BE49-F238E27FC236}">
                <a16:creationId xmlns:a16="http://schemas.microsoft.com/office/drawing/2014/main" id="{AB4A758C-2896-4824-AD0C-44F95F00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102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eb91116b94842"/>
          <a:stretch xmlns:a="http://schemas.openxmlformats.org/drawingml/2006/main"/>
        </p:blipFill>
        <p:spPr>
          <a:xfrm xmlns:a="http://schemas.openxmlformats.org/drawingml/2006/main">
            <a:off x="10172700" y="5648648"/>
            <a:ext cx="514350" cy="418454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03B195-CE59-40BE-A592-6623C96F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5816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DLQ secundaria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880A42-E140-4CA4-9C2F-2C17C2A6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934075"/>
            <a:ext cx="260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Mantem isolamento das falhas permanentes apos a troca.</a:t>
            </a:r>
          </a:p>
        </p:txBody>
      </p:sp>
      <p:cxnSp>
        <p:nvCxnSpPr>
          <p:cNvPr id="155" name=""/>
          <p:cNvCxnSpPr>
            <a:stCxn xmlns:a="http://schemas.openxmlformats.org/drawingml/2006/main" id="13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381250" y="33718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C5967"/>
            </a:solidFill>
            <a:prstDash val="solid"/>
            <a:tailEnd type="arrow" w="med" len="me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5640A17-2E51-4142-9D4A-FDF74F79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86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C5967"/>
                </a:solidFill>
              </a:defRPr>
            </a:pPr>
            <a:r>
              <a:rPr sz="900" b="1">
                <a:solidFill>
                  <a:srgbClr val="2C5967"/>
                </a:solidFill>
              </a:rPr>
              <a:t>executa</a:t>
            </a:r>
          </a:p>
        </p:txBody>
      </p:sp>
      <p:cxnSp>
        <p:nvCxnSpPr>
          <p:cNvPr id="157" name=""/>
          <p:cNvCxnSpPr>
            <a:stCxn xmlns:a="http://schemas.openxmlformats.org/drawingml/2006/main" id="18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 flipV="1">
            <a:off x="3810000" y="4076700"/>
            <a:ext cx="125730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2C5967"/>
            </a:solidFill>
            <a:prstDash val="solid"/>
            <a:tailEnd type="arrow" w="med" len="med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3FF1592-96AF-48A2-9574-E65FD896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052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C5967"/>
                </a:solidFill>
              </a:defRPr>
            </a:pPr>
            <a:r>
              <a:rPr sz="900" b="1">
                <a:solidFill>
                  <a:srgbClr val="2C5967"/>
                </a:solidFill>
              </a:rPr>
              <a:t>publish</a:t>
            </a:r>
          </a:p>
        </p:txBody>
      </p:sp>
      <p:cxnSp>
        <p:nvCxnSpPr>
          <p:cNvPr id="159" name=""/>
          <p:cNvCxnSpPr>
            <a:stCxn xmlns:a="http://schemas.openxmlformats.org/drawingml/2006/main" id="38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3810000" y="4076700"/>
            <a:ext cx="125730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759C6C"/>
            </a:solidFill>
            <a:prstDash val="dash"/>
            <a:tailEnd type="arrow" w="med" len="med"/>
          </a:ln>
        </p:spPr>
      </p:cxnSp>
      <p:cxnSp>
        <p:nvCxnSpPr>
          <p:cNvPr id="160" name=""/>
          <p:cNvCxnSpPr>
            <a:stCxn xmlns:a="http://schemas.openxmlformats.org/drawingml/2006/main" id="18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2381250" y="5105400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9C6C"/>
            </a:solidFill>
            <a:prstDash val="solid"/>
            <a:tailEnd type="arrow" w="med" len="med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4F509D5-71DF-4787-84EF-3B4B6DC3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81588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59C6C"/>
                </a:solidFill>
              </a:defRPr>
            </a:pPr>
            <a:r>
              <a:rPr sz="900" b="1">
                <a:solidFill>
                  <a:srgbClr val="759C6C"/>
                </a:solidFill>
              </a:rPr>
              <a:t>idempotencia</a:t>
            </a:r>
          </a:p>
        </p:txBody>
      </p:sp>
      <p:cxnSp>
        <p:nvCxnSpPr>
          <p:cNvPr id="162" name=""/>
          <p:cNvCxnSpPr>
            <a:stCxn xmlns:a="http://schemas.openxmlformats.org/drawingml/2006/main" id="18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3810000" y="4476750"/>
            <a:ext cx="1257300" cy="1152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C74634"/>
            </a:solidFill>
            <a:prstDash val="dash"/>
            <a:tailEnd type="arrow" w="med" len="med"/>
          </a:ln>
        </p:spPr>
      </p:cxnSp>
      <p:cxnSp>
        <p:nvCxnSpPr>
          <p:cNvPr id="163" name=""/>
          <p:cNvCxnSpPr>
            <a:stCxn xmlns:a="http://schemas.openxmlformats.org/drawingml/2006/main" id="38" idx="2"/>
            <a:endCxn xmlns:a="http://schemas.openxmlformats.org/drawingml/2006/main" id="48" idx="0"/>
          </p:cNvCxnSpPr>
          <p:nvPr/>
        </p:nvCxnSpPr>
        <p:spPr>
          <a:xfrm xmlns:a="http://schemas.openxmlformats.org/drawingml/2006/main">
            <a:off x="6829425" y="4629150"/>
            <a:ext cx="0" cy="1895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9C6C"/>
            </a:solidFill>
            <a:prstDash val="dash"/>
            <a:tailEnd type="arrow" w="med" len="me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EF082F1-84AC-4124-BA4B-38C11F6A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340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59C6C"/>
                </a:solidFill>
              </a:defRPr>
            </a:pPr>
            <a:r>
              <a:rPr sz="900" b="1">
                <a:solidFill>
                  <a:srgbClr val="759C6C"/>
                </a:solidFill>
              </a:rPr>
              <a:t>lag</a:t>
            </a:r>
          </a:p>
        </p:txBody>
      </p:sp>
      <p:cxnSp>
        <p:nvCxnSpPr>
          <p:cNvPr id="165" name=""/>
          <p:cNvCxnSpPr>
            <a:stCxn xmlns:a="http://schemas.openxmlformats.org/drawingml/2006/main" id="18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V="1">
            <a:off x="3810000" y="2838450"/>
            <a:ext cx="6191250" cy="1638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C74634"/>
            </a:solidFill>
            <a:prstDash val="dash"/>
            <a:tailEnd type="arrow" w="med" len="med"/>
          </a:ln>
        </p:spPr>
      </p:cxnSp>
      <p:cxnSp>
        <p:nvCxnSpPr>
          <p:cNvPr id="166" name=""/>
          <p:cNvCxnSpPr>
            <a:stCxn xmlns:a="http://schemas.openxmlformats.org/drawingml/2006/main" id="53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11782425" y="333375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74634"/>
            </a:solidFill>
            <a:prstDash val="solid"/>
            <a:tailEnd type="arrow" w="med" len="me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225A0EC-BB08-4670-93AB-7F964FBF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43852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74634"/>
                </a:solidFill>
              </a:defRPr>
            </a:pPr>
            <a:r>
              <a:rPr sz="900" b="1">
                <a:solidFill>
                  <a:srgbClr val="C74634"/>
                </a:solidFill>
              </a:rPr>
              <a:t>create/reuse</a:t>
            </a:r>
          </a:p>
        </p:txBody>
      </p:sp>
      <p:cxnSp>
        <p:nvCxnSpPr>
          <p:cNvPr id="168" name=""/>
          <p:cNvCxnSpPr>
            <a:stCxn xmlns:a="http://schemas.openxmlformats.org/drawingml/2006/main" id="53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3810000" y="2838450"/>
            <a:ext cx="6191250" cy="4219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F6A65"/>
            </a:solidFill>
            <a:prstDash val="dash"/>
            <a:tailEnd type="arrow" w="med" len="med"/>
          </a:ln>
        </p:spPr>
      </p:cxnSp>
      <p:cxnSp>
        <p:nvCxnSpPr>
          <p:cNvPr id="169" name=""/>
          <p:cNvCxnSpPr>
            <a:stCxn xmlns:a="http://schemas.openxmlformats.org/drawingml/2006/main" id="28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 flipV="1">
            <a:off x="3810000" y="4381500"/>
            <a:ext cx="6191250" cy="2676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C74634"/>
            </a:solidFill>
            <a:prstDash val="dash"/>
            <a:tailEnd type="arrow" w="med" len="med"/>
          </a:ln>
        </p:spPr>
      </p:cxnSp>
      <p:cxnSp>
        <p:nvCxnSpPr>
          <p:cNvPr id="170" name=""/>
          <p:cNvCxnSpPr>
            <a:stCxn xmlns:a="http://schemas.openxmlformats.org/drawingml/2006/main" id="58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11782425" y="49339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74634"/>
            </a:solidFill>
            <a:prstDash val="dash"/>
            <a:tailEnd type="arrow" w="med" len="me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32AAED-C95C-458F-B6F7-43F9D5B2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981575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74634"/>
                </a:solidFill>
              </a:defRPr>
            </a:pPr>
            <a:r>
              <a:rPr sz="900" b="1">
                <a:solidFill>
                  <a:srgbClr val="C74634"/>
                </a:solidFill>
              </a:rPr>
              <a:t>falhas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5D08287-8B4E-408B-BBCF-D0375759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343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</a:rPr>
              <a:t>Chaves de leitura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0A1D681-0C5F-4523-BB3D-6A0CBA55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7343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5"/>
                </a:solidFill>
              </a:defRPr>
            </a:pPr>
            <a:r>
              <a:rPr sz="1050" b="0">
                <a:solidFill>
                  <a:srgbClr val="6F6A65"/>
                </a:solidFill>
              </a:rPr>
              <a:t>Azul: envio/stream ativo  |  Verde: consumo, idempotencia e lag  |  Laranja: failover regional  |  Vermelho: DLQ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88FE5A7-CEDE-4DE6-BFB7-C6D6C263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7343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7404A"/>
                </a:solidFill>
              </a:defRPr>
            </a:pPr>
            <a:r>
              <a:rPr sz="1050" b="1">
                <a:solidFill>
                  <a:srgbClr val="17404A"/>
                </a:solidFill>
              </a:rPr>
              <a:t>Commit manual ocorre somente apos sucesso do batch.</a:t>
            </a:r>
          </a:p>
        </p:txBody>
      </p:sp>
    </p:spTree>
    <p:extLst>
      <p:ext uri="{BB962C8B-B14F-4D97-AF65-F5344CB8AC3E}">
        <p14:creationId xmlns:p14="http://schemas.microsoft.com/office/powerpoint/2010/main" val="1946691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CC4A09F-1796-4CBF-9050-19C17CEC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12D2A"/>
                </a:solidFill>
              </a:defRPr>
            </a:pPr>
            <a:r>
              <a:rPr sz="3150" b="1">
                <a:solidFill>
                  <a:srgbClr val="312D2A"/>
                </a:solidFill>
              </a:rPr>
              <a:t>Fluxo tecnico do failover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F4153-A9E5-45E9-9D4B-647B82D6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A65"/>
                </a:solidFill>
              </a:defRPr>
            </a:pPr>
            <a:r>
              <a:rPr sz="1350" b="0">
                <a:solidFill>
                  <a:srgbClr val="6F6A65"/>
                </a:solidFill>
              </a:rPr>
              <a:t>Como a aplicacao troca endpoint, persiste estado e retoma producer/consumer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09623B-EB19-4CCE-A2F7-0FA90A24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905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5"/>
                </a:solidFill>
              </a:defRPr>
            </a:pPr>
            <a:r>
              <a:rPr sz="900" b="0">
                <a:solidFill>
                  <a:srgbClr val="6F6A65"/>
                </a:solidFill>
              </a:rPr>
              <a:t>Fonte visual: OCI_Icons.pptx / OCI Architecture Diagram Toolkit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A2E1AA43-97FA-40FA-87C2-DFAE81CA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2057400" cy="1504950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7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tep-1-accent">
            <a:extLst xmlns:a="http://schemas.openxmlformats.org/drawingml/2006/main">
              <a:ext uri="{FF2B5EF4-FFF2-40B4-BE49-F238E27FC236}">
                <a16:creationId xmlns:a16="http://schemas.microsoft.com/office/drawing/2014/main" id="{44EB5768-9FAC-413A-A1BB-FAC3565A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8d303fc7f47ef"/>
          <a:stretch xmlns:a="http://schemas.openxmlformats.org/drawingml/2006/main"/>
        </p:blipFill>
        <p:spPr>
          <a:xfrm xmlns:a="http://schemas.openxmlformats.org/drawingml/2006/main">
            <a:off x="762000" y="2367412"/>
            <a:ext cx="514350" cy="46582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8EE32-3116-43F0-AD51-406676E9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Falha detectada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F3FE1-5C74-471F-B515-FE56EF36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76525"/>
            <a:ext cx="1104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Producer ou health check identifica timeout, 500, 429 ou desconexao.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828EC-815C-443F-939D-6B043592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3562712D-40C2-42C8-B6C6-7B46D18A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52650"/>
            <a:ext cx="2057400" cy="1504950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7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step-2-accent">
            <a:extLst xmlns:a="http://schemas.openxmlformats.org/drawingml/2006/main">
              <a:ext uri="{FF2B5EF4-FFF2-40B4-BE49-F238E27FC236}">
                <a16:creationId xmlns:a16="http://schemas.microsoft.com/office/drawing/2014/main" id="{30826132-E104-49F0-88CB-14D05082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526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a0c8b228141f8"/>
          <a:stretch xmlns:a="http://schemas.openxmlformats.org/drawingml/2006/main"/>
        </p:blipFill>
        <p:spPr>
          <a:xfrm xmlns:a="http://schemas.openxmlformats.org/drawingml/2006/main">
            <a:off x="3162300" y="2397958"/>
            <a:ext cx="514350" cy="404734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BE0B4-3382-4DC7-9305-D8D94D9A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2410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Coord. HA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0A543-127D-4C79-A681-330F4CE9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76525"/>
            <a:ext cx="1104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Controla uma unica troca ativa por vez.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0CCFC-5552-434F-BDB7-EFD65DC1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step-3">
            <a:extLst xmlns:a="http://schemas.openxmlformats.org/drawingml/2006/main">
              <a:ext uri="{FF2B5EF4-FFF2-40B4-BE49-F238E27FC236}">
                <a16:creationId xmlns:a16="http://schemas.microsoft.com/office/drawing/2014/main" id="{069D1ADA-C0B0-4CFC-8DED-AD6D1A0C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52650"/>
            <a:ext cx="2057400" cy="1504950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7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step-3-accent">
            <a:extLst xmlns:a="http://schemas.openxmlformats.org/drawingml/2006/main">
              <a:ext uri="{FF2B5EF4-FFF2-40B4-BE49-F238E27FC236}">
                <a16:creationId xmlns:a16="http://schemas.microsoft.com/office/drawing/2014/main" id="{1DD9AD17-5F93-49D7-BECC-A2010BA4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526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7"/>
          </a:solidFill>
          <a:ln xmlns:a="http://schemas.openxmlformats.org/drawingml/2006/main" w="0">
            <a:solidFill>
              <a:srgbClr val="2C5967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e76c3e1bf46ee"/>
          <a:stretch xmlns:a="http://schemas.openxmlformats.org/drawingml/2006/main"/>
        </p:blipFill>
        <p:spPr>
          <a:xfrm xmlns:a="http://schemas.openxmlformats.org/drawingml/2006/main">
            <a:off x="5562600" y="2377117"/>
            <a:ext cx="514350" cy="446417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D5997-E9B5-4ACB-BC98-8B20C193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OCI SDK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3A990-8792-455B-9FF7-F9C0481D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1104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Usa ~/.oci/config, profile e compartment alvo.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487E4-20DD-4AB9-A962-30CF23B5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96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step-4">
            <a:extLst xmlns:a="http://schemas.openxmlformats.org/drawingml/2006/main">
              <a:ext uri="{FF2B5EF4-FFF2-40B4-BE49-F238E27FC236}">
                <a16:creationId xmlns:a16="http://schemas.microsoft.com/office/drawing/2014/main" id="{FD21523D-F2E9-4DD5-ABAA-12089FDF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2057400" cy="1504950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7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tep-4-accent">
            <a:extLst xmlns:a="http://schemas.openxmlformats.org/drawingml/2006/main">
              <a:ext uri="{FF2B5EF4-FFF2-40B4-BE49-F238E27FC236}">
                <a16:creationId xmlns:a16="http://schemas.microsoft.com/office/drawing/2014/main" id="{482D645E-276B-48E3-8E9C-F4945CD9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8a6f9642b4a2f"/>
          <a:stretch xmlns:a="http://schemas.openxmlformats.org/drawingml/2006/main"/>
        </p:blipFill>
        <p:spPr>
          <a:xfrm xmlns:a="http://schemas.openxmlformats.org/drawingml/2006/main">
            <a:off x="7962900" y="2426460"/>
            <a:ext cx="514350" cy="34773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FE99A3-9B1A-4F88-9A58-F9D0C33A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Stream secundario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FDAE3D-FF1D-40A6-8204-0930943A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76525"/>
            <a:ext cx="1104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Cria ou reutiliza stream principal e DLQ na regiao secundaria.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B768C-10D3-44E6-9982-A96BD159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step-5">
            <a:extLst xmlns:a="http://schemas.openxmlformats.org/drawingml/2006/main">
              <a:ext uri="{FF2B5EF4-FFF2-40B4-BE49-F238E27FC236}">
                <a16:creationId xmlns:a16="http://schemas.microsoft.com/office/drawing/2014/main" id="{9A57F6B1-1B2A-47FC-9CF0-375BF602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52650"/>
            <a:ext cx="2057400" cy="1504950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7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step-5-accent">
            <a:extLst xmlns:a="http://schemas.openxmlformats.org/drawingml/2006/main">
              <a:ext uri="{FF2B5EF4-FFF2-40B4-BE49-F238E27FC236}">
                <a16:creationId xmlns:a16="http://schemas.microsoft.com/office/drawing/2014/main" id="{3B5A9867-503B-4DFE-8613-A8109905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526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A65"/>
          </a:solidFill>
          <a:ln xmlns:a="http://schemas.openxmlformats.org/drawingml/2006/main" w="0">
            <a:solidFill>
              <a:srgbClr val="6F6A65"/>
            </a:solidFill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ef6b331f54f39"/>
          <a:stretch xmlns:a="http://schemas.openxmlformats.org/drawingml/2006/main"/>
        </p:blipFill>
        <p:spPr>
          <a:xfrm xmlns:a="http://schemas.openxmlformats.org/drawingml/2006/main">
            <a:off x="10363200" y="2376488"/>
            <a:ext cx="514350" cy="447675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0A3C7E-717B-4DA8-8A09-AC8FE675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32410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Estado salvo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27E916-E71A-4905-BEFE-6306C917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676525"/>
            <a:ext cx="1104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Guarda endpoint, bootstrap Kafka e OCIDs.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A6662F-EBC1-4916-A092-A7EEC109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6A6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step-6">
            <a:extLst xmlns:a="http://schemas.openxmlformats.org/drawingml/2006/main">
              <a:ext uri="{FF2B5EF4-FFF2-40B4-BE49-F238E27FC236}">
                <a16:creationId xmlns:a16="http://schemas.microsoft.com/office/drawing/2014/main" id="{B470B4EC-A39C-44A2-BFCE-D682A216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152650"/>
            <a:ext cx="2057400" cy="1504950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7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step-6-accent">
            <a:extLst xmlns:a="http://schemas.openxmlformats.org/drawingml/2006/main">
              <a:ext uri="{FF2B5EF4-FFF2-40B4-BE49-F238E27FC236}">
                <a16:creationId xmlns:a16="http://schemas.microsoft.com/office/drawing/2014/main" id="{0C08456D-AAA2-49FF-9DBF-694A5DE7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1526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C6C"/>
          </a:solidFill>
          <a:ln xmlns:a="http://schemas.openxmlformats.org/drawingml/2006/main" w="0">
            <a:solidFill>
              <a:srgbClr val="759C6C"/>
            </a:solidFill>
            <a:prstDash val="solid"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e80cc3cc64d9b"/>
          <a:stretch xmlns:a="http://schemas.openxmlformats.org/drawingml/2006/main"/>
        </p:blipFill>
        <p:spPr>
          <a:xfrm xmlns:a="http://schemas.openxmlformats.org/drawingml/2006/main">
            <a:off x="12763500" y="2394585"/>
            <a:ext cx="514350" cy="41148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0FE1E8-C41E-4CA1-94C4-7BCCA0F4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232410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Clients reiniciados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1512C6-BE12-4A13-BF6E-AE21B4CE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2676525"/>
            <a:ext cx="1104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Factories atualizadas e listeners Kafka reiniciados.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2C4A4C-89DB-44B7-9282-3B1E8858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2019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9C6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cxnSp>
        <p:nvCxnSpPr>
          <p:cNvPr id="109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47950" y="2905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4634"/>
            </a:solidFill>
            <a:prstDash val="solid"/>
            <a:tailEnd type="arrow" w="med" len="med"/>
          </a:ln>
        </p:spPr>
      </p:cxnSp>
      <p:cxnSp>
        <p:nvCxnSpPr>
          <p:cNvPr id="110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048250" y="2905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4634"/>
            </a:solidFill>
            <a:prstDash val="solid"/>
            <a:tailEnd type="arrow" w="med" len="med"/>
          </a:ln>
        </p:spPr>
      </p:cxnSp>
      <p:cxnSp>
        <p:nvCxnSpPr>
          <p:cNvPr id="111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448550" y="2905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4634"/>
            </a:solidFill>
            <a:prstDash val="solid"/>
            <a:tailEnd type="arrow" w="med" len="med"/>
          </a:ln>
        </p:spPr>
      </p:cxnSp>
      <p:cxnSp>
        <p:nvCxnSpPr>
          <p:cNvPr id="112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48850" y="2905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59C6C"/>
            </a:solidFill>
            <a:prstDash val="solid"/>
            <a:tailEnd type="arrow" w="med" len="med"/>
          </a:ln>
        </p:spPr>
      </p:cxnSp>
      <p:cxnSp>
        <p:nvCxnSpPr>
          <p:cNvPr id="113" name=""/>
          <p:cNvCxnSpPr>
            <a:stCxn xmlns:a="http://schemas.openxmlformats.org/drawingml/2006/main" id="28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12249150" y="290512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759C6C"/>
            </a:solidFill>
            <a:prstDash val="solid"/>
            <a:tailEnd type="arrow" w="med" len="med"/>
          </a:ln>
        </p:spPr>
      </p:cxnSp>
      <p:sp>
        <p:nvSpPr>
          <p:cNvPr id="45" name="Resultado operacional">
            <a:extLst xmlns:a="http://schemas.openxmlformats.org/drawingml/2006/main">
              <a:ext uri="{FF2B5EF4-FFF2-40B4-BE49-F238E27FC236}">
                <a16:creationId xmlns:a16="http://schemas.microsoft.com/office/drawing/2014/main" id="{4E9645BA-D3D8-4BA3-AF24-39F6C976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379220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FAFAF9"/>
          </a:solidFill>
          <a:ln xmlns:a="http://schemas.openxmlformats.org/drawingml/2006/main" w="14288">
            <a:solidFill>
              <a:srgbClr val="DAD7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C556C6-8ABA-4528-A2E1-868FAE44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1337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404A"/>
                </a:solidFill>
              </a:defRPr>
            </a:pPr>
            <a:r>
              <a:rPr sz="1575" b="1">
                <a:solidFill>
                  <a:srgbClr val="17404A"/>
                </a:solidFill>
              </a:rPr>
              <a:t>Resultado operacional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16DA1B-528F-4454-A999-17B4EF12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337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5"/>
                </a:solidFill>
              </a:defRPr>
            </a:pPr>
            <a:r>
              <a:rPr sz="1050" b="0">
                <a:solidFill>
                  <a:srgbClr val="6F6A65"/>
                </a:solidFill>
              </a:rPr>
              <a:t>A aplicacao passa a apostar/publicar e consumir no novo stream salvo.</a:t>
            </a:r>
          </a:p>
        </p:txBody>
      </p:sp>
      <p:sp>
        <p:nvSpPr>
          <p:cNvPr id="48" name="producer-result">
            <a:extLst xmlns:a="http://schemas.openxmlformats.org/drawingml/2006/main">
              <a:ext uri="{FF2B5EF4-FFF2-40B4-BE49-F238E27FC236}">
                <a16:creationId xmlns:a16="http://schemas.microsoft.com/office/drawing/2014/main" id="{6F538720-0B17-44CA-900F-F4341744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14950"/>
            <a:ext cx="36766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7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producer-result-accent">
            <a:extLst xmlns:a="http://schemas.openxmlformats.org/drawingml/2006/main">
              <a:ext uri="{FF2B5EF4-FFF2-40B4-BE49-F238E27FC236}">
                <a16:creationId xmlns:a16="http://schemas.microsoft.com/office/drawing/2014/main" id="{74742F5A-6ACE-4AF1-B90A-C614B482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149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5967"/>
          </a:solidFill>
          <a:ln xmlns:a="http://schemas.openxmlformats.org/drawingml/2006/main" w="0">
            <a:solidFill>
              <a:srgbClr val="2C5967"/>
            </a:solidFill>
            <a:prstDash val="solid"/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1483d29584573"/>
          <a:stretch xmlns:a="http://schemas.openxmlformats.org/drawingml/2006/main"/>
        </p:blipFill>
        <p:spPr>
          <a:xfrm xmlns:a="http://schemas.openxmlformats.org/drawingml/2006/main">
            <a:off x="1333500" y="5591175"/>
            <a:ext cx="514350" cy="3429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2D22C1-9419-4488-83A1-28D2EE36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864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Producer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7E6C60-BA3F-441A-B8C2-9421B378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38825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Reenvia a mensagem que disparou o failover usando o novo bootstrap.</a:t>
            </a:r>
          </a:p>
        </p:txBody>
      </p:sp>
      <p:sp>
        <p:nvSpPr>
          <p:cNvPr id="53" name="stream-result">
            <a:extLst xmlns:a="http://schemas.openxmlformats.org/drawingml/2006/main">
              <a:ext uri="{FF2B5EF4-FFF2-40B4-BE49-F238E27FC236}">
                <a16:creationId xmlns:a16="http://schemas.microsoft.com/office/drawing/2014/main" id="{C24D6277-72E0-4DF7-82E2-AA5BD567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14950"/>
            <a:ext cx="36766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2383">
            <a:solidFill>
              <a:srgbClr val="E2C9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stream-result-accent">
            <a:extLst xmlns:a="http://schemas.openxmlformats.org/drawingml/2006/main">
              <a:ext uri="{FF2B5EF4-FFF2-40B4-BE49-F238E27FC236}">
                <a16:creationId xmlns:a16="http://schemas.microsoft.com/office/drawing/2014/main" id="{6B7FA0A5-DE53-4114-B045-49C159F6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149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3faaefba24050"/>
          <a:stretch xmlns:a="http://schemas.openxmlformats.org/drawingml/2006/main"/>
        </p:blipFill>
        <p:spPr>
          <a:xfrm xmlns:a="http://schemas.openxmlformats.org/drawingml/2006/main">
            <a:off x="5962650" y="5588760"/>
            <a:ext cx="514350" cy="34773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93FB64-9871-44F8-84D7-615912A1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864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OCI Streaming secundario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D7F1D1-85C8-4824-AB92-8912B96E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838825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Topico logico mantido ou nome secundario configurado.</a:t>
            </a:r>
          </a:p>
        </p:txBody>
      </p:sp>
      <p:sp>
        <p:nvSpPr>
          <p:cNvPr id="58" name="consumer-result">
            <a:extLst xmlns:a="http://schemas.openxmlformats.org/drawingml/2006/main">
              <a:ext uri="{FF2B5EF4-FFF2-40B4-BE49-F238E27FC236}">
                <a16:creationId xmlns:a16="http://schemas.microsoft.com/office/drawing/2014/main" id="{4C7EF193-3A09-41E7-A3FC-96770B3F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314950"/>
            <a:ext cx="3676650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D7D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consumer-result-accent">
            <a:extLst xmlns:a="http://schemas.openxmlformats.org/drawingml/2006/main">
              <a:ext uri="{FF2B5EF4-FFF2-40B4-BE49-F238E27FC236}">
                <a16:creationId xmlns:a16="http://schemas.microsoft.com/office/drawing/2014/main" id="{0611C4D9-C53F-45BB-9A9E-080E85F2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3149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9C6C"/>
          </a:solidFill>
          <a:ln xmlns:a="http://schemas.openxmlformats.org/drawingml/2006/main" w="0">
            <a:solidFill>
              <a:srgbClr val="759C6C"/>
            </a:solidFill>
            <a:prstDash val="solid"/>
          </a:ln>
        </p:spPr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a8af90dcb4397"/>
          <a:stretch xmlns:a="http://schemas.openxmlformats.org/drawingml/2006/main"/>
        </p:blipFill>
        <p:spPr>
          <a:xfrm xmlns:a="http://schemas.openxmlformats.org/drawingml/2006/main">
            <a:off x="10591800" y="5583382"/>
            <a:ext cx="514350" cy="358486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8B4D8D1-BC24-4347-9F8D-D320B4FA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4864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2D2A"/>
                </a:solidFill>
              </a:defRPr>
            </a:pPr>
            <a:r>
              <a:rPr sz="1350" b="1">
                <a:solidFill>
                  <a:srgbClr val="312D2A"/>
                </a:solidFill>
              </a:rPr>
              <a:t>Consumer batch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1702939-A9F6-49CB-A0F2-F225137E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838825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5"/>
                </a:solidFill>
              </a:defRPr>
            </a:pPr>
            <a:r>
              <a:rPr sz="975" b="0">
                <a:solidFill>
                  <a:srgbClr val="6F6A65"/>
                </a:solidFill>
              </a:rPr>
              <a:t>Listener reiniciado consome do endpoint persistido e commita apos sucesso.</a:t>
            </a:r>
          </a:p>
        </p:txBody>
      </p:sp>
      <p:cxnSp>
        <p:nvCxnSpPr>
          <p:cNvPr id="132" name=""/>
          <p:cNvCxnSpPr>
            <a:stCxn xmlns:a="http://schemas.openxmlformats.org/drawingml/2006/main" id="48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4838700" y="58674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C5967"/>
            </a:solidFill>
            <a:prstDash val="solid"/>
            <a:tailEnd type="arrow" w="med" len="me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EFABBE6-CBAD-433D-99F8-F61D6C44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959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C5967"/>
                </a:solidFill>
              </a:defRPr>
            </a:pPr>
            <a:r>
              <a:rPr sz="900" b="1">
                <a:solidFill>
                  <a:srgbClr val="2C5967"/>
                </a:solidFill>
              </a:rPr>
              <a:t>Kafka API</a:t>
            </a:r>
          </a:p>
        </p:txBody>
      </p:sp>
      <p:cxnSp>
        <p:nvCxnSpPr>
          <p:cNvPr id="134" name=""/>
          <p:cNvCxnSpPr>
            <a:stCxn xmlns:a="http://schemas.openxmlformats.org/drawingml/2006/main" id="53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9467850" y="58674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9C6C"/>
            </a:solidFill>
            <a:prstDash val="solid"/>
            <a:tailEnd type="arrow" w="med" len="me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6F36AC-C4E6-4556-AA88-5796394B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959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59C6C"/>
                </a:solidFill>
              </a:defRPr>
            </a:pPr>
            <a:r>
              <a:rPr sz="900" b="1">
                <a:solidFill>
                  <a:srgbClr val="759C6C"/>
                </a:solidFill>
              </a:rPr>
              <a:t>batch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773C796-3706-4A74-80C0-AC171619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838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</a:rPr>
              <a:t>Arquivo persistido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A822AB-1A5D-47DB-9327-EC3CDEC5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8389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5"/>
                </a:solidFill>
              </a:defRPr>
            </a:pPr>
            <a:r>
              <a:rPr sz="1050" b="0">
                <a:solidFill>
                  <a:srgbClr val="6F6A65"/>
                </a:solidFill>
              </a:rPr>
              <a:t>active.role=SECONDARY | secondary.kafka.bootstrap-servers=...:9092 | updated.at=&lt;timestamp&gt;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2367F86-CFF8-44A9-9923-9CD898A9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838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74634"/>
                </a:solidFill>
              </a:defRPr>
            </a:pPr>
            <a:r>
              <a:rPr sz="1050" b="1">
                <a:solidFill>
                  <a:srgbClr val="C74634"/>
                </a:solidFill>
              </a:rPr>
              <a:t>Retry + DLQ continuam ativos depois da troca.</a:t>
            </a:r>
          </a:p>
        </p:txBody>
      </p:sp>
    </p:spTree>
    <p:extLst>
      <p:ext uri="{BB962C8B-B14F-4D97-AF65-F5344CB8AC3E}">
        <p14:creationId xmlns:p14="http://schemas.microsoft.com/office/powerpoint/2010/main" val="1188753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2026-07-21T19:18:29.9540000Z</dcterms:created>
  <dcterms:modified xsi:type="dcterms:W3CDTF">2026-07-21T19:18:29.9540000Z</dcterms:modified>
</coreProperties>
</file>